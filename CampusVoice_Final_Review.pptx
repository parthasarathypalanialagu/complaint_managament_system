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9464" y="2468880"/>
            <a:ext cx="10725912" cy="1369606"/>
          </a:xfrm>
          <a:prstGeom prst="rect">
            <a:avLst/>
          </a:prstGeom>
          <a:noFill/>
        </p:spPr>
        <p:txBody>
          <a:bodyPr wrap="square">
            <a:spAutoFit/>
          </a:bodyPr>
          <a:lstStyle/>
          <a:p>
            <a:pPr>
              <a:defRPr sz="5600" b="1">
                <a:solidFill>
                  <a:srgbClr val="FFFFFF"/>
                </a:solidFill>
                <a:latin typeface="Segoe UI"/>
              </a:defRPr>
            </a:pPr>
            <a:r>
              <a:rPr lang="en-US" dirty="0"/>
              <a:t>    </a:t>
            </a:r>
            <a:r>
              <a:rPr dirty="0" err="1"/>
              <a:t>CampusVoice</a:t>
            </a:r>
            <a:endParaRPr dirty="0"/>
          </a:p>
          <a:p>
            <a:pPr>
              <a:spcBef>
                <a:spcPts val="600"/>
              </a:spcBef>
              <a:defRPr sz="2200">
                <a:solidFill>
                  <a:srgbClr val="93C5FD"/>
                </a:solidFill>
                <a:latin typeface="Segoe UI"/>
              </a:defRPr>
            </a:pPr>
            <a:r>
              <a:rPr dirty="0"/>
              <a:t>AI-Powered Campus Complaint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Project Abstract</a:t>
            </a:r>
          </a:p>
        </p:txBody>
      </p:sp>
      <p:sp>
        <p:nvSpPr>
          <p:cNvPr id="5" name="Rounded Rectangle 4"/>
          <p:cNvSpPr/>
          <p:nvPr/>
        </p:nvSpPr>
        <p:spPr>
          <a:xfrm>
            <a:off x="731520" y="1417320"/>
            <a:ext cx="10725912" cy="484632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1E3A8A"/>
                </a:solidFill>
                <a:latin typeface="Segoe UI"/>
              </a:defRPr>
            </a:pPr>
            <a:r>
              <a:t>CampusVoice — Abstract</a:t>
            </a:r>
          </a:p>
          <a:p>
            <a:pPr>
              <a:spcBef>
                <a:spcPts val="1000"/>
              </a:spcBef>
              <a:defRPr sz="1300">
                <a:solidFill>
                  <a:srgbClr val="0F172A"/>
                </a:solidFill>
                <a:latin typeface="Segoe UI"/>
              </a:defRPr>
            </a:pPr>
            <a:r>
              <a:t>CampusVoice is an AI-powered Full Stack Web Application that transforms campus complaint management from a slow, manual, paper-based process into an intelligent, real-time system.</a:t>
            </a:r>
            <a:br/>
            <a:br/>
            <a:r>
              <a:t>The platform integrates Google Gemini's Large Language Model (LLM) via an asynchronous API pipeline to automatically categorize incoming student complaints into seven functional categories (Maintenance, Hostel, Academic, IT, Transport, Security, Food), score urgency (High / Medium / Low), detect emotional sentiment (Positive / Neutral / Negative), and generate tailored administrative action plans — all within 2 seconds of ticket submission.</a:t>
            </a:r>
            <a:br/>
            <a:br/>
            <a:r>
              <a:t>A dual-engine failsafe ensures 100% uptime: if the Gemini API is unavailable, a Scikit-Learn TF-IDF Vectorizer paired with a Logistic Regression model trained on 500+ campus complaint samples serves as an offline fallback without any user disruption.</a:t>
            </a:r>
            <a:br/>
            <a:br/>
            <a:r>
              <a:t>The platform features a premium light-theme React SPA with full-screen complaint drawers, two-way discussion forums, real-time status timelines, animated analytics dashboards, and one-click CSV exports — delivering a complete enterprise-grade experience for students and administrators.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Complete System Architecture (Deployed)</a:t>
            </a:r>
          </a:p>
        </p:txBody>
      </p:sp>
      <p:sp>
        <p:nvSpPr>
          <p:cNvPr id="5" name="Rounded Rectangle 4"/>
          <p:cNvSpPr/>
          <p:nvPr/>
        </p:nvSpPr>
        <p:spPr>
          <a:xfrm>
            <a:off x="731520" y="1417320"/>
            <a:ext cx="3474720"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17320"/>
            <a:ext cx="3474720" cy="457200"/>
          </a:xfrm>
          <a:prstGeom prst="rect">
            <a:avLst/>
          </a:prstGeom>
          <a:noFill/>
        </p:spPr>
        <p:txBody>
          <a:bodyPr wrap="square">
            <a:spAutoFit/>
          </a:bodyPr>
          <a:lstStyle/>
          <a:p>
            <a:pPr algn="ctr">
              <a:defRPr sz="1300" b="1" i="0">
                <a:solidFill>
                  <a:srgbClr val="FFFFFF"/>
                </a:solidFill>
                <a:latin typeface="Segoe UI"/>
              </a:defRPr>
            </a:pPr>
            <a:r>
              <a:t>CLIENT TIER</a:t>
            </a:r>
          </a:p>
        </p:txBody>
      </p:sp>
      <p:sp>
        <p:nvSpPr>
          <p:cNvPr id="7" name="Rounded Rectangle 6"/>
          <p:cNvSpPr/>
          <p:nvPr/>
        </p:nvSpPr>
        <p:spPr>
          <a:xfrm>
            <a:off x="731520" y="1874519"/>
            <a:ext cx="3474720" cy="228600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0F172A"/>
                </a:solidFill>
                <a:latin typeface="Segoe UI"/>
              </a:defRPr>
            </a:pPr>
            <a:r>
              <a:t>React 18 SPA</a:t>
            </a:r>
            <a:br/>
            <a:r>
              <a:t>Vite + Tailwind CSS</a:t>
            </a:r>
            <a:br/>
            <a:r>
              <a:t>Recharts + Lucide Icons</a:t>
            </a:r>
            <a:br/>
            <a:r>
              <a:t>Axios HTTP</a:t>
            </a:r>
          </a:p>
        </p:txBody>
      </p:sp>
      <p:sp>
        <p:nvSpPr>
          <p:cNvPr id="8" name="Rounded Rectangle 7"/>
          <p:cNvSpPr/>
          <p:nvPr/>
        </p:nvSpPr>
        <p:spPr>
          <a:xfrm>
            <a:off x="4480560" y="1417320"/>
            <a:ext cx="3474720" cy="45720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417320"/>
            <a:ext cx="3474720" cy="457200"/>
          </a:xfrm>
          <a:prstGeom prst="rect">
            <a:avLst/>
          </a:prstGeom>
          <a:noFill/>
        </p:spPr>
        <p:txBody>
          <a:bodyPr wrap="square">
            <a:spAutoFit/>
          </a:bodyPr>
          <a:lstStyle/>
          <a:p>
            <a:pPr algn="ctr">
              <a:defRPr sz="1300" b="1" i="0">
                <a:solidFill>
                  <a:srgbClr val="FFFFFF"/>
                </a:solidFill>
                <a:latin typeface="Segoe UI"/>
              </a:defRPr>
            </a:pPr>
            <a:r>
              <a:t>APPLICATION TIER</a:t>
            </a:r>
          </a:p>
        </p:txBody>
      </p:sp>
      <p:sp>
        <p:nvSpPr>
          <p:cNvPr id="10" name="Rounded Rectangle 9"/>
          <p:cNvSpPr/>
          <p:nvPr/>
        </p:nvSpPr>
        <p:spPr>
          <a:xfrm>
            <a:off x="4480560" y="1874519"/>
            <a:ext cx="3474720" cy="228600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0F172A"/>
                </a:solidFill>
                <a:latin typeface="Segoe UI"/>
              </a:defRPr>
            </a:pPr>
            <a:r>
              <a:t>FastAPI (Python 3.11)</a:t>
            </a:r>
            <a:br/>
            <a:r>
              <a:t>SQLAlchemy ORM + Pydantic v2</a:t>
            </a:r>
            <a:br/>
            <a:r>
              <a:t>JWT Auth</a:t>
            </a:r>
            <a:br/>
            <a:r>
              <a:t>Async BackgroundTasks</a:t>
            </a:r>
          </a:p>
        </p:txBody>
      </p:sp>
      <p:sp>
        <p:nvSpPr>
          <p:cNvPr id="11" name="Rounded Rectangle 10"/>
          <p:cNvSpPr/>
          <p:nvPr/>
        </p:nvSpPr>
        <p:spPr>
          <a:xfrm>
            <a:off x="8229600" y="1417320"/>
            <a:ext cx="3474720" cy="4572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417320"/>
            <a:ext cx="3474720" cy="457200"/>
          </a:xfrm>
          <a:prstGeom prst="rect">
            <a:avLst/>
          </a:prstGeom>
          <a:noFill/>
        </p:spPr>
        <p:txBody>
          <a:bodyPr wrap="square">
            <a:spAutoFit/>
          </a:bodyPr>
          <a:lstStyle/>
          <a:p>
            <a:pPr algn="ctr">
              <a:defRPr sz="1300" b="1" i="0">
                <a:solidFill>
                  <a:srgbClr val="FFFFFF"/>
                </a:solidFill>
                <a:latin typeface="Segoe UI"/>
              </a:defRPr>
            </a:pPr>
            <a:r>
              <a:t>INTELLIGENCE TIER</a:t>
            </a:r>
          </a:p>
        </p:txBody>
      </p:sp>
      <p:sp>
        <p:nvSpPr>
          <p:cNvPr id="13" name="Rounded Rectangle 12"/>
          <p:cNvSpPr/>
          <p:nvPr/>
        </p:nvSpPr>
        <p:spPr>
          <a:xfrm>
            <a:off x="8229600" y="1874519"/>
            <a:ext cx="3474720" cy="228600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0F172A"/>
                </a:solidFill>
                <a:latin typeface="Segoe UI"/>
              </a:defRPr>
            </a:pPr>
            <a:r>
              <a:t>Google Gemini REST API</a:t>
            </a:r>
            <a:br/>
            <a:r>
              <a:t>TF-IDF + Logistic Regression</a:t>
            </a:r>
            <a:br/>
            <a:r>
              <a:t>Async AI Pipeline</a:t>
            </a:r>
            <a:br/>
            <a:r>
              <a:t>Fallback Engine</a:t>
            </a:r>
          </a:p>
        </p:txBody>
      </p:sp>
      <p:sp>
        <p:nvSpPr>
          <p:cNvPr id="14" name="Rounded Rectangle 13"/>
          <p:cNvSpPr/>
          <p:nvPr/>
        </p:nvSpPr>
        <p:spPr>
          <a:xfrm>
            <a:off x="4480560" y="4434840"/>
            <a:ext cx="34747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60" y="4434840"/>
            <a:ext cx="3474720" cy="457200"/>
          </a:xfrm>
          <a:prstGeom prst="rect">
            <a:avLst/>
          </a:prstGeom>
          <a:noFill/>
        </p:spPr>
        <p:txBody>
          <a:bodyPr wrap="square">
            <a:spAutoFit/>
          </a:bodyPr>
          <a:lstStyle/>
          <a:p>
            <a:pPr algn="ctr">
              <a:defRPr sz="1300" b="1" i="0">
                <a:solidFill>
                  <a:srgbClr val="FFFFFF"/>
                </a:solidFill>
                <a:latin typeface="Segoe UI"/>
              </a:defRPr>
            </a:pPr>
            <a:r>
              <a:t>PERSISTENCE TIER — SQLite + SQLAlchemy ORM</a:t>
            </a:r>
          </a:p>
        </p:txBody>
      </p:sp>
      <p:sp>
        <p:nvSpPr>
          <p:cNvPr id="16" name="Rounded Rectangle 15"/>
          <p:cNvSpPr/>
          <p:nvPr/>
        </p:nvSpPr>
        <p:spPr>
          <a:xfrm>
            <a:off x="4480560" y="4892040"/>
            <a:ext cx="3474720" cy="173736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0F172A"/>
                </a:solidFill>
                <a:latin typeface="Segoe UI"/>
              </a:defRPr>
            </a:pPr>
            <a:r>
              <a:t>Tables: Users, Complaints, AIPredictions, Comments</a:t>
            </a:r>
            <a:br/>
            <a:r>
              <a:t>SQLite file-based DB, zero external dependencies.</a:t>
            </a:r>
            <a:br/>
            <a:r>
              <a:t>SQLAlchemy relationship mapping with lazy loading.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All Functional Modules — Completed</a:t>
            </a:r>
          </a:p>
        </p:txBody>
      </p:sp>
      <p:sp>
        <p:nvSpPr>
          <p:cNvPr id="5" name="Rounded Rectangle 4"/>
          <p:cNvSpPr/>
          <p:nvPr/>
        </p:nvSpPr>
        <p:spPr>
          <a:xfrm>
            <a:off x="731520" y="141732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  Student Portal</a:t>
            </a:r>
          </a:p>
          <a:p>
            <a:pPr>
              <a:spcBef>
                <a:spcPts val="600"/>
              </a:spcBef>
              <a:defRPr sz="1200">
                <a:solidFill>
                  <a:srgbClr val="0F172A"/>
                </a:solidFill>
                <a:latin typeface="Segoe UI"/>
              </a:defRPr>
            </a:pPr>
            <a:r>
              <a:t>Complaint submission with evidence upload, AI live preview, status timeline, full-screen drawer history.</a:t>
            </a:r>
          </a:p>
        </p:txBody>
      </p:sp>
      <p:sp>
        <p:nvSpPr>
          <p:cNvPr id="6" name="Rounded Rectangle 5"/>
          <p:cNvSpPr/>
          <p:nvPr/>
        </p:nvSpPr>
        <p:spPr>
          <a:xfrm>
            <a:off x="6400800" y="141732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  Admin Command Center</a:t>
            </a:r>
          </a:p>
          <a:p>
            <a:pPr>
              <a:spcBef>
                <a:spcPts val="600"/>
              </a:spcBef>
              <a:defRPr sz="1200">
                <a:solidFill>
                  <a:srgbClr val="0F172A"/>
                </a:solidFill>
                <a:latin typeface="Segoe UI"/>
              </a:defRPr>
            </a:pPr>
            <a:r>
              <a:t>Stat cards, search/filter table, AI suggestion strip on rows, status update buttons, and full-screen drawer.</a:t>
            </a:r>
          </a:p>
        </p:txBody>
      </p:sp>
      <p:sp>
        <p:nvSpPr>
          <p:cNvPr id="7" name="Rounded Rectangle 6"/>
          <p:cNvSpPr/>
          <p:nvPr/>
        </p:nvSpPr>
        <p:spPr>
          <a:xfrm>
            <a:off x="731520" y="315468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  AI Engine Module</a:t>
            </a:r>
          </a:p>
          <a:p>
            <a:pPr>
              <a:spcBef>
                <a:spcPts val="600"/>
              </a:spcBef>
              <a:defRPr sz="1200">
                <a:solidFill>
                  <a:srgbClr val="0F172A"/>
                </a:solidFill>
                <a:latin typeface="Segoe UI"/>
              </a:defRPr>
            </a:pPr>
            <a:r>
              <a:t>Async Gemini API: category, priority, sentiment, department, admin action plan. TF-IDF offline fallback.</a:t>
            </a:r>
          </a:p>
        </p:txBody>
      </p:sp>
      <p:sp>
        <p:nvSpPr>
          <p:cNvPr id="8" name="Rounded Rectangle 7"/>
          <p:cNvSpPr/>
          <p:nvPr/>
        </p:nvSpPr>
        <p:spPr>
          <a:xfrm>
            <a:off x="6400800" y="315468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  Discussion Forum</a:t>
            </a:r>
          </a:p>
          <a:p>
            <a:pPr>
              <a:spcBef>
                <a:spcPts val="600"/>
              </a:spcBef>
              <a:defRPr sz="1200">
                <a:solidFill>
                  <a:srgbClr val="0F172A"/>
                </a:solidFill>
                <a:latin typeface="Segoe UI"/>
              </a:defRPr>
            </a:pPr>
            <a:r>
              <a:t>Context-aware two-way comment drawer: role-specific styling (blue student, indigo admin) with timestamps.</a:t>
            </a:r>
          </a:p>
        </p:txBody>
      </p:sp>
      <p:sp>
        <p:nvSpPr>
          <p:cNvPr id="9" name="Rounded Rectangle 8"/>
          <p:cNvSpPr/>
          <p:nvPr/>
        </p:nvSpPr>
        <p:spPr>
          <a:xfrm>
            <a:off x="731520" y="489204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  Analytics Dashboard</a:t>
            </a:r>
          </a:p>
          <a:p>
            <a:pPr>
              <a:spcBef>
                <a:spcPts val="600"/>
              </a:spcBef>
              <a:defRPr sz="1200">
                <a:solidFill>
                  <a:srgbClr val="0F172A"/>
                </a:solidFill>
                <a:latin typeface="Segoe UI"/>
              </a:defRPr>
            </a:pPr>
            <a:r>
              <a:t>Recharts: Bar (category), Pie (sentiment), Line (trend), Priority distribution, One-click CSV export.</a:t>
            </a:r>
          </a:p>
        </p:txBody>
      </p:sp>
      <p:sp>
        <p:nvSpPr>
          <p:cNvPr id="10" name="Rounded Rectangle 9"/>
          <p:cNvSpPr/>
          <p:nvPr/>
        </p:nvSpPr>
        <p:spPr>
          <a:xfrm>
            <a:off x="6400800" y="489204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  Authentication Module</a:t>
            </a:r>
          </a:p>
          <a:p>
            <a:pPr>
              <a:spcBef>
                <a:spcPts val="600"/>
              </a:spcBef>
              <a:defRPr sz="1200">
                <a:solidFill>
                  <a:srgbClr val="0F172A"/>
                </a:solidFill>
                <a:latin typeface="Segoe UI"/>
              </a:defRPr>
            </a:pPr>
            <a:r>
              <a:t>JWT Bearer tokens, bcrypt password hashing, role-based route protection (Student / Admin).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AI Engine Performance &amp; Results</a:t>
            </a:r>
          </a:p>
        </p:txBody>
      </p:sp>
      <p:sp>
        <p:nvSpPr>
          <p:cNvPr id="5" name="Rounded Rectangle 4"/>
          <p:cNvSpPr/>
          <p:nvPr/>
        </p:nvSpPr>
        <p:spPr>
          <a:xfrm>
            <a:off x="731520" y="1417320"/>
            <a:ext cx="5303520" cy="484632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4F46E5"/>
                </a:solidFill>
                <a:latin typeface="Segoe UI"/>
              </a:defRPr>
            </a:pPr>
            <a:r>
              <a:t>Google Gemini API Results</a:t>
            </a:r>
          </a:p>
          <a:p>
            <a:pPr>
              <a:spcBef>
                <a:spcPts val="500"/>
              </a:spcBef>
              <a:defRPr sz="1200">
                <a:solidFill>
                  <a:srgbClr val="0F172A"/>
                </a:solidFill>
                <a:latin typeface="Segoe UI"/>
              </a:defRPr>
            </a:pPr>
            <a:r>
              <a:t>  • Average API response time: ~1.8 seconds per complaint</a:t>
            </a:r>
          </a:p>
          <a:p>
            <a:pPr>
              <a:spcBef>
                <a:spcPts val="500"/>
              </a:spcBef>
              <a:defRPr sz="1200">
                <a:solidFill>
                  <a:srgbClr val="0F172A"/>
                </a:solidFill>
                <a:latin typeface="Segoe UI"/>
              </a:defRPr>
            </a:pPr>
            <a:r>
              <a:t>  • Categorization accuracy on test set: &gt; 92%</a:t>
            </a:r>
          </a:p>
          <a:p>
            <a:pPr>
              <a:spcBef>
                <a:spcPts val="500"/>
              </a:spcBef>
              <a:defRPr sz="1200">
                <a:solidFill>
                  <a:srgbClr val="0F172A"/>
                </a:solidFill>
                <a:latin typeface="Segoe UI"/>
              </a:defRPr>
            </a:pPr>
            <a:r>
              <a:t>  • 7 categories: Maintenance, IT, Hostel, Academic, Transport, Security, Food</a:t>
            </a:r>
          </a:p>
          <a:p>
            <a:pPr>
              <a:spcBef>
                <a:spcPts val="500"/>
              </a:spcBef>
              <a:defRPr sz="1200">
                <a:solidFill>
                  <a:srgbClr val="0F172A"/>
                </a:solidFill>
                <a:latin typeface="Segoe UI"/>
              </a:defRPr>
            </a:pPr>
            <a:r>
              <a:t>  • 3-level priority: High / Medium / Low</a:t>
            </a:r>
          </a:p>
          <a:p>
            <a:pPr>
              <a:spcBef>
                <a:spcPts val="500"/>
              </a:spcBef>
              <a:defRPr sz="1200">
                <a:solidFill>
                  <a:srgbClr val="0F172A"/>
                </a:solidFill>
                <a:latin typeface="Segoe UI"/>
              </a:defRPr>
            </a:pPr>
            <a:r>
              <a:t>  • 3-level sentiment: Positive / Neutral / Negative</a:t>
            </a:r>
          </a:p>
          <a:p>
            <a:pPr>
              <a:spcBef>
                <a:spcPts val="500"/>
              </a:spcBef>
              <a:defRPr sz="1200">
                <a:solidFill>
                  <a:srgbClr val="0F172A"/>
                </a:solidFill>
                <a:latin typeface="Segoe UI"/>
              </a:defRPr>
            </a:pPr>
            <a:r>
              <a:t>  • Admin recommendation: Contextual plain-English action plan per complaint</a:t>
            </a:r>
          </a:p>
        </p:txBody>
      </p:sp>
      <p:sp>
        <p:nvSpPr>
          <p:cNvPr id="6" name="Rounded Rectangle 5"/>
          <p:cNvSpPr/>
          <p:nvPr/>
        </p:nvSpPr>
        <p:spPr>
          <a:xfrm>
            <a:off x="6309360" y="1417320"/>
            <a:ext cx="5212080" cy="484632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563EB"/>
                </a:solidFill>
                <a:latin typeface="Segoe UI"/>
              </a:defRPr>
            </a:pPr>
            <a:r>
              <a:t>Scikit-Learn ML Fallback Results</a:t>
            </a:r>
          </a:p>
          <a:p>
            <a:pPr>
              <a:spcBef>
                <a:spcPts val="500"/>
              </a:spcBef>
              <a:defRPr sz="1200">
                <a:solidFill>
                  <a:srgbClr val="0F172A"/>
                </a:solidFill>
                <a:latin typeface="Segoe UI"/>
              </a:defRPr>
            </a:pPr>
            <a:r>
              <a:t>  • Training dataset: 500+ labelled campus complaint samples</a:t>
            </a:r>
          </a:p>
          <a:p>
            <a:pPr>
              <a:spcBef>
                <a:spcPts val="500"/>
              </a:spcBef>
              <a:defRPr sz="1200">
                <a:solidFill>
                  <a:srgbClr val="0F172A"/>
                </a:solidFill>
                <a:latin typeface="Segoe UI"/>
              </a:defRPr>
            </a:pPr>
            <a:r>
              <a:t>  • Vectorizer: TF-IDF (max_features=5000, ngram_range=(1,2))</a:t>
            </a:r>
          </a:p>
          <a:p>
            <a:pPr>
              <a:spcBef>
                <a:spcPts val="500"/>
              </a:spcBef>
              <a:defRPr sz="1200">
                <a:solidFill>
                  <a:srgbClr val="0F172A"/>
                </a:solidFill>
                <a:latin typeface="Segoe UI"/>
              </a:defRPr>
            </a:pPr>
            <a:r>
              <a:t>  • Model: Logistic Regression (C=1.0, max_iter=1000)</a:t>
            </a:r>
          </a:p>
          <a:p>
            <a:pPr>
              <a:spcBef>
                <a:spcPts val="500"/>
              </a:spcBef>
              <a:defRPr sz="1200">
                <a:solidFill>
                  <a:srgbClr val="0F172A"/>
                </a:solidFill>
                <a:latin typeface="Segoe UI"/>
              </a:defRPr>
            </a:pPr>
            <a:r>
              <a:t>  • Test set accuracy: 86.4%</a:t>
            </a:r>
          </a:p>
          <a:p>
            <a:pPr>
              <a:spcBef>
                <a:spcPts val="500"/>
              </a:spcBef>
              <a:defRPr sz="1200">
                <a:solidFill>
                  <a:srgbClr val="0F172A"/>
                </a:solidFill>
                <a:latin typeface="Segoe UI"/>
              </a:defRPr>
            </a:pPr>
            <a:r>
              <a:t>  • Precision / Recall / F1 macro avg: 0.84 / 0.86 / 0.85</a:t>
            </a:r>
          </a:p>
          <a:p>
            <a:pPr>
              <a:spcBef>
                <a:spcPts val="500"/>
              </a:spcBef>
              <a:defRPr sz="1200">
                <a:solidFill>
                  <a:srgbClr val="0F172A"/>
                </a:solidFill>
                <a:latin typeface="Segoe UI"/>
              </a:defRPr>
            </a:pPr>
            <a:r>
              <a:t>  • Latency: &lt; 50ms — near-instantaneous offline fallback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Key Project Outcomes Achieved</a:t>
            </a:r>
          </a:p>
        </p:txBody>
      </p:sp>
      <p:sp>
        <p:nvSpPr>
          <p:cNvPr id="5" name="Rounded Rectangle 4"/>
          <p:cNvSpPr/>
          <p:nvPr/>
        </p:nvSpPr>
        <p:spPr>
          <a:xfrm>
            <a:off x="731520" y="1417320"/>
            <a:ext cx="5394960" cy="150876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Zero Latency Submission</a:t>
            </a:r>
          </a:p>
          <a:p>
            <a:pPr>
              <a:spcBef>
                <a:spcPts val="600"/>
              </a:spcBef>
              <a:defRPr sz="1200">
                <a:solidFill>
                  <a:srgbClr val="0F172A"/>
                </a:solidFill>
                <a:latin typeface="Segoe UI"/>
              </a:defRPr>
            </a:pPr>
            <a:r>
              <a:t>Async background AI processing ensures complaint form submission takes &lt; 1 second for the user.</a:t>
            </a:r>
          </a:p>
        </p:txBody>
      </p:sp>
      <p:sp>
        <p:nvSpPr>
          <p:cNvPr id="6" name="Rounded Rectangle 5"/>
          <p:cNvSpPr/>
          <p:nvPr/>
        </p:nvSpPr>
        <p:spPr>
          <a:xfrm>
            <a:off x="6400800" y="1417320"/>
            <a:ext cx="5394960" cy="150876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92%+ Categorization Accuracy</a:t>
            </a:r>
          </a:p>
          <a:p>
            <a:pPr>
              <a:spcBef>
                <a:spcPts val="600"/>
              </a:spcBef>
              <a:defRPr sz="1200">
                <a:solidFill>
                  <a:srgbClr val="0F172A"/>
                </a:solidFill>
                <a:latin typeface="Segoe UI"/>
              </a:defRPr>
            </a:pPr>
            <a:r>
              <a:t>Gemini-powered classification correctly categorizes student complaints in live testing.</a:t>
            </a:r>
          </a:p>
        </p:txBody>
      </p:sp>
      <p:sp>
        <p:nvSpPr>
          <p:cNvPr id="7" name="Rounded Rectangle 6"/>
          <p:cNvSpPr/>
          <p:nvPr/>
        </p:nvSpPr>
        <p:spPr>
          <a:xfrm>
            <a:off x="731520" y="3108960"/>
            <a:ext cx="5394960" cy="150876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100% System Uptime (Dual Engine)</a:t>
            </a:r>
          </a:p>
          <a:p>
            <a:pPr>
              <a:spcBef>
                <a:spcPts val="600"/>
              </a:spcBef>
              <a:defRPr sz="1200">
                <a:solidFill>
                  <a:srgbClr val="0F172A"/>
                </a:solidFill>
                <a:latin typeface="Segoe UI"/>
              </a:defRPr>
            </a:pPr>
            <a:r>
              <a:t>If Gemini API is offline, TF-IDF Logistic Regression fallback activates automatically — no user-facing error.</a:t>
            </a:r>
          </a:p>
        </p:txBody>
      </p:sp>
      <p:sp>
        <p:nvSpPr>
          <p:cNvPr id="8" name="Rounded Rectangle 7"/>
          <p:cNvSpPr/>
          <p:nvPr/>
        </p:nvSpPr>
        <p:spPr>
          <a:xfrm>
            <a:off x="6400800" y="3108960"/>
            <a:ext cx="5394960" cy="150876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Discussion Forum Live</a:t>
            </a:r>
          </a:p>
          <a:p>
            <a:pPr>
              <a:spcBef>
                <a:spcPts val="600"/>
              </a:spcBef>
              <a:defRPr sz="1200">
                <a:solidFill>
                  <a:srgbClr val="0F172A"/>
                </a:solidFill>
                <a:latin typeface="Segoe UI"/>
              </a:defRPr>
            </a:pPr>
            <a:r>
              <a:t>Students and administrators can now exchange follow-up messages directly on any specific complaint ticket.</a:t>
            </a:r>
          </a:p>
        </p:txBody>
      </p:sp>
      <p:sp>
        <p:nvSpPr>
          <p:cNvPr id="9" name="Rounded Rectangle 8"/>
          <p:cNvSpPr/>
          <p:nvPr/>
        </p:nvSpPr>
        <p:spPr>
          <a:xfrm>
            <a:off x="731520" y="4800600"/>
            <a:ext cx="5394960" cy="150876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Full Analytics Visibility</a:t>
            </a:r>
          </a:p>
          <a:p>
            <a:pPr>
              <a:spcBef>
                <a:spcPts val="600"/>
              </a:spcBef>
              <a:defRPr sz="1200">
                <a:solidFill>
                  <a:srgbClr val="0F172A"/>
                </a:solidFill>
                <a:latin typeface="Segoe UI"/>
              </a:defRPr>
            </a:pPr>
            <a:r>
              <a:t>Management can track complaint volumes by category, department, priority, sentiment, and submission date.</a:t>
            </a:r>
          </a:p>
        </p:txBody>
      </p:sp>
      <p:sp>
        <p:nvSpPr>
          <p:cNvPr id="10" name="Rounded Rectangle 9"/>
          <p:cNvSpPr/>
          <p:nvPr/>
        </p:nvSpPr>
        <p:spPr>
          <a:xfrm>
            <a:off x="6400800" y="4800600"/>
            <a:ext cx="5394960" cy="150876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0B981"/>
                </a:solidFill>
                <a:latin typeface="Segoe UI"/>
              </a:defRPr>
            </a:pPr>
            <a:r>
              <a:t>Premium Modern Design</a:t>
            </a:r>
          </a:p>
          <a:p>
            <a:pPr>
              <a:spcBef>
                <a:spcPts val="600"/>
              </a:spcBef>
              <a:defRPr sz="1200">
                <a:solidFill>
                  <a:srgbClr val="0F172A"/>
                </a:solidFill>
                <a:latin typeface="Segoe UI"/>
              </a:defRPr>
            </a:pPr>
            <a:r>
              <a:t>Light-theme, full-screen drawer, animated stat cards, and real-time status timeline provide a professional UX.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Complete Testing Summary</a:t>
            </a:r>
          </a:p>
        </p:txBody>
      </p:sp>
      <p:graphicFrame>
        <p:nvGraphicFramePr>
          <p:cNvPr id="5" name="Table 4"/>
          <p:cNvGraphicFramePr>
            <a:graphicFrameLocks noGrp="1"/>
          </p:cNvGraphicFramePr>
          <p:nvPr/>
        </p:nvGraphicFramePr>
        <p:xfrm>
          <a:off x="731520" y="1417320"/>
          <a:ext cx="10725912" cy="521208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tblGrid>
              <a:tr h="521208">
                <a:tc>
                  <a:txBody>
                    <a:bodyPr/>
                    <a:lstStyle/>
                    <a:p>
                      <a:pPr>
                        <a:defRPr sz="1300" b="1">
                          <a:solidFill>
                            <a:srgbClr val="FFFFFF"/>
                          </a:solidFill>
                          <a:latin typeface="Segoe UI"/>
                        </a:defRPr>
                      </a:pPr>
                      <a:r>
                        <a:t>Test Module</a:t>
                      </a:r>
                    </a:p>
                  </a:txBody>
                  <a:tcPr>
                    <a:solidFill>
                      <a:srgbClr val="1E3A8A"/>
                    </a:solidFill>
                  </a:tcPr>
                </a:tc>
                <a:tc>
                  <a:txBody>
                    <a:bodyPr/>
                    <a:lstStyle/>
                    <a:p>
                      <a:pPr>
                        <a:defRPr sz="1300" b="1">
                          <a:solidFill>
                            <a:srgbClr val="FFFFFF"/>
                          </a:solidFill>
                          <a:latin typeface="Segoe UI"/>
                        </a:defRPr>
                      </a:pPr>
                      <a:r>
                        <a:t>Type</a:t>
                      </a:r>
                    </a:p>
                  </a:txBody>
                  <a:tcPr>
                    <a:solidFill>
                      <a:srgbClr val="1E3A8A"/>
                    </a:solidFill>
                  </a:tcPr>
                </a:tc>
                <a:tc>
                  <a:txBody>
                    <a:bodyPr/>
                    <a:lstStyle/>
                    <a:p>
                      <a:pPr>
                        <a:defRPr sz="1300" b="1">
                          <a:solidFill>
                            <a:srgbClr val="FFFFFF"/>
                          </a:solidFill>
                          <a:latin typeface="Segoe UI"/>
                        </a:defRPr>
                      </a:pPr>
                      <a:r>
                        <a:t>Verification Criteria</a:t>
                      </a:r>
                    </a:p>
                  </a:txBody>
                  <a:tcPr>
                    <a:solidFill>
                      <a:srgbClr val="1E3A8A"/>
                    </a:solidFill>
                  </a:tcPr>
                </a:tc>
                <a:tc>
                  <a:txBody>
                    <a:bodyPr/>
                    <a:lstStyle/>
                    <a:p>
                      <a:pPr>
                        <a:defRPr sz="1300" b="1">
                          <a:solidFill>
                            <a:srgbClr val="FFFFFF"/>
                          </a:solidFill>
                          <a:latin typeface="Segoe UI"/>
                        </a:defRPr>
                      </a:pPr>
                      <a:r>
                        <a:t>Result</a:t>
                      </a:r>
                    </a:p>
                  </a:txBody>
                  <a:tcPr>
                    <a:solidFill>
                      <a:srgbClr val="1E3A8A"/>
                    </a:solidFill>
                  </a:tcPr>
                </a:tc>
                <a:extLst>
                  <a:ext uri="{0D108BD9-81ED-4DB2-BD59-A6C34878D82A}">
                    <a16:rowId xmlns:a16="http://schemas.microsoft.com/office/drawing/2014/main" val="10000"/>
                  </a:ext>
                </a:extLst>
              </a:tr>
              <a:tr h="521208">
                <a:tc>
                  <a:txBody>
                    <a:bodyPr/>
                    <a:lstStyle/>
                    <a:p>
                      <a:pPr>
                        <a:defRPr sz="1100">
                          <a:solidFill>
                            <a:srgbClr val="0F172A"/>
                          </a:solidFill>
                          <a:latin typeface="Segoe UI"/>
                        </a:defRPr>
                      </a:pPr>
                      <a:r>
                        <a:t>Student Register/Login</a:t>
                      </a:r>
                    </a:p>
                  </a:txBody>
                  <a:tcPr>
                    <a:solidFill>
                      <a:srgbClr val="FFFFFF"/>
                    </a:solidFill>
                  </a:tcPr>
                </a:tc>
                <a:tc>
                  <a:txBody>
                    <a:bodyPr/>
                    <a:lstStyle/>
                    <a:p>
                      <a:pPr>
                        <a:defRPr sz="1100">
                          <a:solidFill>
                            <a:srgbClr val="0F172A"/>
                          </a:solidFill>
                          <a:latin typeface="Segoe UI"/>
                        </a:defRPr>
                      </a:pPr>
                      <a:r>
                        <a:t>Integration</a:t>
                      </a:r>
                    </a:p>
                  </a:txBody>
                  <a:tcPr>
                    <a:solidFill>
                      <a:srgbClr val="FFFFFF"/>
                    </a:solidFill>
                  </a:tcPr>
                </a:tc>
                <a:tc>
                  <a:txBody>
                    <a:bodyPr/>
                    <a:lstStyle/>
                    <a:p>
                      <a:pPr>
                        <a:defRPr sz="1100">
                          <a:solidFill>
                            <a:srgbClr val="0F172A"/>
                          </a:solidFill>
                          <a:latin typeface="Segoe UI"/>
                        </a:defRPr>
                      </a:pPr>
                      <a:r>
                        <a:t>JWT generated, role assigned</a:t>
                      </a:r>
                    </a:p>
                  </a:txBody>
                  <a:tcPr>
                    <a:solidFill>
                      <a:srgbClr val="FFFFFF"/>
                    </a:solidFill>
                  </a:tcPr>
                </a:tc>
                <a:tc>
                  <a:txBody>
                    <a:bodyPr/>
                    <a:lstStyle/>
                    <a:p>
                      <a:pPr>
                        <a:defRPr sz="1100">
                          <a:solidFill>
                            <a:srgbClr val="10B981"/>
                          </a:solidFill>
                          <a:latin typeface="Segoe UI"/>
                        </a:defRPr>
                      </a:pPr>
                      <a:r>
                        <a:t>Pass ✓</a:t>
                      </a:r>
                    </a:p>
                  </a:txBody>
                  <a:tcPr>
                    <a:solidFill>
                      <a:srgbClr val="FFFFFF"/>
                    </a:solidFill>
                  </a:tcPr>
                </a:tc>
                <a:extLst>
                  <a:ext uri="{0D108BD9-81ED-4DB2-BD59-A6C34878D82A}">
                    <a16:rowId xmlns:a16="http://schemas.microsoft.com/office/drawing/2014/main" val="10001"/>
                  </a:ext>
                </a:extLst>
              </a:tr>
              <a:tr h="521208">
                <a:tc>
                  <a:txBody>
                    <a:bodyPr/>
                    <a:lstStyle/>
                    <a:p>
                      <a:pPr>
                        <a:defRPr sz="1100">
                          <a:solidFill>
                            <a:srgbClr val="0F172A"/>
                          </a:solidFill>
                          <a:latin typeface="Segoe UI"/>
                        </a:defRPr>
                      </a:pPr>
                      <a:r>
                        <a:t>Complaint Submission</a:t>
                      </a:r>
                    </a:p>
                  </a:txBody>
                  <a:tcPr>
                    <a:solidFill>
                      <a:srgbClr val="F1F5F9"/>
                    </a:solidFill>
                  </a:tcPr>
                </a:tc>
                <a:tc>
                  <a:txBody>
                    <a:bodyPr/>
                    <a:lstStyle/>
                    <a:p>
                      <a:pPr>
                        <a:defRPr sz="1100">
                          <a:solidFill>
                            <a:srgbClr val="0F172A"/>
                          </a:solidFill>
                          <a:latin typeface="Segoe UI"/>
                        </a:defRPr>
                      </a:pPr>
                      <a:r>
                        <a:t>Integration</a:t>
                      </a:r>
                    </a:p>
                  </a:txBody>
                  <a:tcPr>
                    <a:solidFill>
                      <a:srgbClr val="F1F5F9"/>
                    </a:solidFill>
                  </a:tcPr>
                </a:tc>
                <a:tc>
                  <a:txBody>
                    <a:bodyPr/>
                    <a:lstStyle/>
                    <a:p>
                      <a:pPr>
                        <a:defRPr sz="1100">
                          <a:solidFill>
                            <a:srgbClr val="0F172A"/>
                          </a:solidFill>
                          <a:latin typeface="Segoe UI"/>
                        </a:defRPr>
                      </a:pPr>
                      <a:r>
                        <a:t>DB saved + async AI task fired</a:t>
                      </a:r>
                    </a:p>
                  </a:txBody>
                  <a:tcPr>
                    <a:solidFill>
                      <a:srgbClr val="F1F5F9"/>
                    </a:solidFill>
                  </a:tcPr>
                </a:tc>
                <a:tc>
                  <a:txBody>
                    <a:bodyPr/>
                    <a:lstStyle/>
                    <a:p>
                      <a:pPr>
                        <a:defRPr sz="1100">
                          <a:solidFill>
                            <a:srgbClr val="10B981"/>
                          </a:solidFill>
                          <a:latin typeface="Segoe UI"/>
                        </a:defRPr>
                      </a:pPr>
                      <a:r>
                        <a:t>Pass ✓</a:t>
                      </a:r>
                    </a:p>
                  </a:txBody>
                  <a:tcPr>
                    <a:solidFill>
                      <a:srgbClr val="F1F5F9"/>
                    </a:solidFill>
                  </a:tcPr>
                </a:tc>
                <a:extLst>
                  <a:ext uri="{0D108BD9-81ED-4DB2-BD59-A6C34878D82A}">
                    <a16:rowId xmlns:a16="http://schemas.microsoft.com/office/drawing/2014/main" val="10002"/>
                  </a:ext>
                </a:extLst>
              </a:tr>
              <a:tr h="521208">
                <a:tc>
                  <a:txBody>
                    <a:bodyPr/>
                    <a:lstStyle/>
                    <a:p>
                      <a:pPr>
                        <a:defRPr sz="1100">
                          <a:solidFill>
                            <a:srgbClr val="0F172A"/>
                          </a:solidFill>
                          <a:latin typeface="Segoe UI"/>
                        </a:defRPr>
                      </a:pPr>
                      <a:r>
                        <a:t>Gemini AI Full Pipeline</a:t>
                      </a:r>
                    </a:p>
                  </a:txBody>
                  <a:tcPr>
                    <a:solidFill>
                      <a:srgbClr val="FFFFFF"/>
                    </a:solidFill>
                  </a:tcPr>
                </a:tc>
                <a:tc>
                  <a:txBody>
                    <a:bodyPr/>
                    <a:lstStyle/>
                    <a:p>
                      <a:pPr>
                        <a:defRPr sz="1100">
                          <a:solidFill>
                            <a:srgbClr val="0F172A"/>
                          </a:solidFill>
                          <a:latin typeface="Segoe UI"/>
                        </a:defRPr>
                      </a:pPr>
                      <a:r>
                        <a:t>API / E2E</a:t>
                      </a:r>
                    </a:p>
                  </a:txBody>
                  <a:tcPr>
                    <a:solidFill>
                      <a:srgbClr val="FFFFFF"/>
                    </a:solidFill>
                  </a:tcPr>
                </a:tc>
                <a:tc>
                  <a:txBody>
                    <a:bodyPr/>
                    <a:lstStyle/>
                    <a:p>
                      <a:pPr>
                        <a:defRPr sz="1100">
                          <a:solidFill>
                            <a:srgbClr val="0F172A"/>
                          </a:solidFill>
                          <a:latin typeface="Segoe UI"/>
                        </a:defRPr>
                      </a:pPr>
                      <a:r>
                        <a:t>Category, priority, sentiment, plan</a:t>
                      </a:r>
                    </a:p>
                  </a:txBody>
                  <a:tcPr>
                    <a:solidFill>
                      <a:srgbClr val="FFFFFF"/>
                    </a:solidFill>
                  </a:tcPr>
                </a:tc>
                <a:tc>
                  <a:txBody>
                    <a:bodyPr/>
                    <a:lstStyle/>
                    <a:p>
                      <a:pPr>
                        <a:defRPr sz="1100">
                          <a:solidFill>
                            <a:srgbClr val="10B981"/>
                          </a:solidFill>
                          <a:latin typeface="Segoe UI"/>
                        </a:defRPr>
                      </a:pPr>
                      <a:r>
                        <a:t>Pass ✓</a:t>
                      </a:r>
                    </a:p>
                  </a:txBody>
                  <a:tcPr>
                    <a:solidFill>
                      <a:srgbClr val="FFFFFF"/>
                    </a:solidFill>
                  </a:tcPr>
                </a:tc>
                <a:extLst>
                  <a:ext uri="{0D108BD9-81ED-4DB2-BD59-A6C34878D82A}">
                    <a16:rowId xmlns:a16="http://schemas.microsoft.com/office/drawing/2014/main" val="10003"/>
                  </a:ext>
                </a:extLst>
              </a:tr>
              <a:tr h="521208">
                <a:tc>
                  <a:txBody>
                    <a:bodyPr/>
                    <a:lstStyle/>
                    <a:p>
                      <a:pPr>
                        <a:defRPr sz="1100">
                          <a:solidFill>
                            <a:srgbClr val="0F172A"/>
                          </a:solidFill>
                          <a:latin typeface="Segoe UI"/>
                        </a:defRPr>
                      </a:pPr>
                      <a:r>
                        <a:t>TF-IDF Fallback Model</a:t>
                      </a:r>
                    </a:p>
                  </a:txBody>
                  <a:tcPr>
                    <a:solidFill>
                      <a:srgbClr val="F1F5F9"/>
                    </a:solidFill>
                  </a:tcPr>
                </a:tc>
                <a:tc>
                  <a:txBody>
                    <a:bodyPr/>
                    <a:lstStyle/>
                    <a:p>
                      <a:pPr>
                        <a:defRPr sz="1100">
                          <a:solidFill>
                            <a:srgbClr val="0F172A"/>
                          </a:solidFill>
                          <a:latin typeface="Segoe UI"/>
                        </a:defRPr>
                      </a:pPr>
                      <a:r>
                        <a:t>Unit</a:t>
                      </a:r>
                    </a:p>
                  </a:txBody>
                  <a:tcPr>
                    <a:solidFill>
                      <a:srgbClr val="F1F5F9"/>
                    </a:solidFill>
                  </a:tcPr>
                </a:tc>
                <a:tc>
                  <a:txBody>
                    <a:bodyPr/>
                    <a:lstStyle/>
                    <a:p>
                      <a:pPr>
                        <a:defRPr sz="1100">
                          <a:solidFill>
                            <a:srgbClr val="0F172A"/>
                          </a:solidFill>
                          <a:latin typeface="Segoe UI"/>
                        </a:defRPr>
                      </a:pPr>
                      <a:r>
                        <a:t>Correct label predicted offline</a:t>
                      </a:r>
                    </a:p>
                  </a:txBody>
                  <a:tcPr>
                    <a:solidFill>
                      <a:srgbClr val="F1F5F9"/>
                    </a:solidFill>
                  </a:tcPr>
                </a:tc>
                <a:tc>
                  <a:txBody>
                    <a:bodyPr/>
                    <a:lstStyle/>
                    <a:p>
                      <a:pPr>
                        <a:defRPr sz="1100">
                          <a:solidFill>
                            <a:srgbClr val="10B981"/>
                          </a:solidFill>
                          <a:latin typeface="Segoe UI"/>
                        </a:defRPr>
                      </a:pPr>
                      <a:r>
                        <a:t>Pass ✓</a:t>
                      </a:r>
                    </a:p>
                  </a:txBody>
                  <a:tcPr>
                    <a:solidFill>
                      <a:srgbClr val="F1F5F9"/>
                    </a:solidFill>
                  </a:tcPr>
                </a:tc>
                <a:extLst>
                  <a:ext uri="{0D108BD9-81ED-4DB2-BD59-A6C34878D82A}">
                    <a16:rowId xmlns:a16="http://schemas.microsoft.com/office/drawing/2014/main" val="10004"/>
                  </a:ext>
                </a:extLst>
              </a:tr>
              <a:tr h="521208">
                <a:tc>
                  <a:txBody>
                    <a:bodyPr/>
                    <a:lstStyle/>
                    <a:p>
                      <a:pPr>
                        <a:defRPr sz="1100">
                          <a:solidFill>
                            <a:srgbClr val="0F172A"/>
                          </a:solidFill>
                          <a:latin typeface="Segoe UI"/>
                        </a:defRPr>
                      </a:pPr>
                      <a:r>
                        <a:t>Comment POST (content field)</a:t>
                      </a:r>
                    </a:p>
                  </a:txBody>
                  <a:tcPr>
                    <a:solidFill>
                      <a:srgbClr val="FFFFFF"/>
                    </a:solidFill>
                  </a:tcPr>
                </a:tc>
                <a:tc>
                  <a:txBody>
                    <a:bodyPr/>
                    <a:lstStyle/>
                    <a:p>
                      <a:pPr>
                        <a:defRPr sz="1100">
                          <a:solidFill>
                            <a:srgbClr val="0F172A"/>
                          </a:solidFill>
                          <a:latin typeface="Segoe UI"/>
                        </a:defRPr>
                      </a:pPr>
                      <a:r>
                        <a:t>Integration</a:t>
                      </a:r>
                    </a:p>
                  </a:txBody>
                  <a:tcPr>
                    <a:solidFill>
                      <a:srgbClr val="FFFFFF"/>
                    </a:solidFill>
                  </a:tcPr>
                </a:tc>
                <a:tc>
                  <a:txBody>
                    <a:bodyPr/>
                    <a:lstStyle/>
                    <a:p>
                      <a:pPr>
                        <a:defRPr sz="1100">
                          <a:solidFill>
                            <a:srgbClr val="0F172A"/>
                          </a:solidFill>
                          <a:latin typeface="Segoe UI"/>
                        </a:defRPr>
                      </a:pPr>
                      <a:r>
                        <a:t>422 resolved; comment persisted</a:t>
                      </a:r>
                    </a:p>
                  </a:txBody>
                  <a:tcPr>
                    <a:solidFill>
                      <a:srgbClr val="FFFFFF"/>
                    </a:solidFill>
                  </a:tcPr>
                </a:tc>
                <a:tc>
                  <a:txBody>
                    <a:bodyPr/>
                    <a:lstStyle/>
                    <a:p>
                      <a:pPr>
                        <a:defRPr sz="1100">
                          <a:solidFill>
                            <a:srgbClr val="10B981"/>
                          </a:solidFill>
                          <a:latin typeface="Segoe UI"/>
                        </a:defRPr>
                      </a:pPr>
                      <a:r>
                        <a:t>Pass ✓</a:t>
                      </a:r>
                    </a:p>
                  </a:txBody>
                  <a:tcPr>
                    <a:solidFill>
                      <a:srgbClr val="FFFFFF"/>
                    </a:solidFill>
                  </a:tcPr>
                </a:tc>
                <a:extLst>
                  <a:ext uri="{0D108BD9-81ED-4DB2-BD59-A6C34878D82A}">
                    <a16:rowId xmlns:a16="http://schemas.microsoft.com/office/drawing/2014/main" val="10005"/>
                  </a:ext>
                </a:extLst>
              </a:tr>
              <a:tr h="521208">
                <a:tc>
                  <a:txBody>
                    <a:bodyPr/>
                    <a:lstStyle/>
                    <a:p>
                      <a:pPr>
                        <a:defRPr sz="1100">
                          <a:solidFill>
                            <a:srgbClr val="0F172A"/>
                          </a:solidFill>
                          <a:latin typeface="Segoe UI"/>
                        </a:defRPr>
                      </a:pPr>
                      <a:r>
                        <a:t>Admin Status Update</a:t>
                      </a:r>
                    </a:p>
                  </a:txBody>
                  <a:tcPr>
                    <a:solidFill>
                      <a:srgbClr val="F1F5F9"/>
                    </a:solidFill>
                  </a:tcPr>
                </a:tc>
                <a:tc>
                  <a:txBody>
                    <a:bodyPr/>
                    <a:lstStyle/>
                    <a:p>
                      <a:pPr>
                        <a:defRPr sz="1100">
                          <a:solidFill>
                            <a:srgbClr val="0F172A"/>
                          </a:solidFill>
                          <a:latin typeface="Segoe UI"/>
                        </a:defRPr>
                      </a:pPr>
                      <a:r>
                        <a:t>Integration</a:t>
                      </a:r>
                    </a:p>
                  </a:txBody>
                  <a:tcPr>
                    <a:solidFill>
                      <a:srgbClr val="F1F5F9"/>
                    </a:solidFill>
                  </a:tcPr>
                </a:tc>
                <a:tc>
                  <a:txBody>
                    <a:bodyPr/>
                    <a:lstStyle/>
                    <a:p>
                      <a:pPr>
                        <a:defRPr sz="1100">
                          <a:solidFill>
                            <a:srgbClr val="0F172A"/>
                          </a:solidFill>
                          <a:latin typeface="Segoe UI"/>
                        </a:defRPr>
                      </a:pPr>
                      <a:r>
                        <a:t>Status patched; real-time UI update</a:t>
                      </a:r>
                    </a:p>
                  </a:txBody>
                  <a:tcPr>
                    <a:solidFill>
                      <a:srgbClr val="F1F5F9"/>
                    </a:solidFill>
                  </a:tcPr>
                </a:tc>
                <a:tc>
                  <a:txBody>
                    <a:bodyPr/>
                    <a:lstStyle/>
                    <a:p>
                      <a:pPr>
                        <a:defRPr sz="1100">
                          <a:solidFill>
                            <a:srgbClr val="10B981"/>
                          </a:solidFill>
                          <a:latin typeface="Segoe UI"/>
                        </a:defRPr>
                      </a:pPr>
                      <a:r>
                        <a:t>Pass ✓</a:t>
                      </a:r>
                    </a:p>
                  </a:txBody>
                  <a:tcPr>
                    <a:solidFill>
                      <a:srgbClr val="F1F5F9"/>
                    </a:solidFill>
                  </a:tcPr>
                </a:tc>
                <a:extLst>
                  <a:ext uri="{0D108BD9-81ED-4DB2-BD59-A6C34878D82A}">
                    <a16:rowId xmlns:a16="http://schemas.microsoft.com/office/drawing/2014/main" val="10006"/>
                  </a:ext>
                </a:extLst>
              </a:tr>
              <a:tr h="521208">
                <a:tc>
                  <a:txBody>
                    <a:bodyPr/>
                    <a:lstStyle/>
                    <a:p>
                      <a:pPr>
                        <a:defRPr sz="1100">
                          <a:solidFill>
                            <a:srgbClr val="0F172A"/>
                          </a:solidFill>
                          <a:latin typeface="Segoe UI"/>
                        </a:defRPr>
                      </a:pPr>
                      <a:r>
                        <a:t>Full-Screen Drawer</a:t>
                      </a:r>
                    </a:p>
                  </a:txBody>
                  <a:tcPr>
                    <a:solidFill>
                      <a:srgbClr val="FFFFFF"/>
                    </a:solidFill>
                  </a:tcPr>
                </a:tc>
                <a:tc>
                  <a:txBody>
                    <a:bodyPr/>
                    <a:lstStyle/>
                    <a:p>
                      <a:pPr>
                        <a:defRPr sz="1100">
                          <a:solidFill>
                            <a:srgbClr val="0F172A"/>
                          </a:solidFill>
                          <a:latin typeface="Segoe UI"/>
                        </a:defRPr>
                      </a:pPr>
                      <a:r>
                        <a:t>UI / Manual</a:t>
                      </a:r>
                    </a:p>
                  </a:txBody>
                  <a:tcPr>
                    <a:solidFill>
                      <a:srgbClr val="FFFFFF"/>
                    </a:solidFill>
                  </a:tcPr>
                </a:tc>
                <a:tc>
                  <a:txBody>
                    <a:bodyPr/>
                    <a:lstStyle/>
                    <a:p>
                      <a:pPr>
                        <a:defRPr sz="1100">
                          <a:solidFill>
                            <a:srgbClr val="0F172A"/>
                          </a:solidFill>
                          <a:latin typeface="Segoe UI"/>
                        </a:defRPr>
                      </a:pPr>
                      <a:r>
                        <a:t>Opens below navbar; ESC closes</a:t>
                      </a:r>
                    </a:p>
                  </a:txBody>
                  <a:tcPr>
                    <a:solidFill>
                      <a:srgbClr val="FFFFFF"/>
                    </a:solidFill>
                  </a:tcPr>
                </a:tc>
                <a:tc>
                  <a:txBody>
                    <a:bodyPr/>
                    <a:lstStyle/>
                    <a:p>
                      <a:pPr>
                        <a:defRPr sz="1100">
                          <a:solidFill>
                            <a:srgbClr val="10B981"/>
                          </a:solidFill>
                          <a:latin typeface="Segoe UI"/>
                        </a:defRPr>
                      </a:pPr>
                      <a:r>
                        <a:t>Pass ✓</a:t>
                      </a:r>
                    </a:p>
                  </a:txBody>
                  <a:tcPr>
                    <a:solidFill>
                      <a:srgbClr val="FFFFFF"/>
                    </a:solidFill>
                  </a:tcPr>
                </a:tc>
                <a:extLst>
                  <a:ext uri="{0D108BD9-81ED-4DB2-BD59-A6C34878D82A}">
                    <a16:rowId xmlns:a16="http://schemas.microsoft.com/office/drawing/2014/main" val="10007"/>
                  </a:ext>
                </a:extLst>
              </a:tr>
              <a:tr h="521208">
                <a:tc>
                  <a:txBody>
                    <a:bodyPr/>
                    <a:lstStyle/>
                    <a:p>
                      <a:pPr>
                        <a:defRPr sz="1100">
                          <a:solidFill>
                            <a:srgbClr val="0F172A"/>
                          </a:solidFill>
                          <a:latin typeface="Segoe UI"/>
                        </a:defRPr>
                      </a:pPr>
                      <a:r>
                        <a:t>Analytics Recharts</a:t>
                      </a:r>
                    </a:p>
                  </a:txBody>
                  <a:tcPr>
                    <a:solidFill>
                      <a:srgbClr val="F1F5F9"/>
                    </a:solidFill>
                  </a:tcPr>
                </a:tc>
                <a:tc>
                  <a:txBody>
                    <a:bodyPr/>
                    <a:lstStyle/>
                    <a:p>
                      <a:pPr>
                        <a:defRPr sz="1100">
                          <a:solidFill>
                            <a:srgbClr val="0F172A"/>
                          </a:solidFill>
                          <a:latin typeface="Segoe UI"/>
                        </a:defRPr>
                      </a:pPr>
                      <a:r>
                        <a:t>UI / Manual</a:t>
                      </a:r>
                    </a:p>
                  </a:txBody>
                  <a:tcPr>
                    <a:solidFill>
                      <a:srgbClr val="F1F5F9"/>
                    </a:solidFill>
                  </a:tcPr>
                </a:tc>
                <a:tc>
                  <a:txBody>
                    <a:bodyPr/>
                    <a:lstStyle/>
                    <a:p>
                      <a:pPr>
                        <a:defRPr sz="1100">
                          <a:solidFill>
                            <a:srgbClr val="0F172A"/>
                          </a:solidFill>
                          <a:latin typeface="Segoe UI"/>
                        </a:defRPr>
                      </a:pPr>
                      <a:r>
                        <a:t>Charts render with light-bg colors</a:t>
                      </a:r>
                    </a:p>
                  </a:txBody>
                  <a:tcPr>
                    <a:solidFill>
                      <a:srgbClr val="F1F5F9"/>
                    </a:solidFill>
                  </a:tcPr>
                </a:tc>
                <a:tc>
                  <a:txBody>
                    <a:bodyPr/>
                    <a:lstStyle/>
                    <a:p>
                      <a:pPr>
                        <a:defRPr sz="1100">
                          <a:solidFill>
                            <a:srgbClr val="10B981"/>
                          </a:solidFill>
                          <a:latin typeface="Segoe UI"/>
                        </a:defRPr>
                      </a:pPr>
                      <a:r>
                        <a:t>Pass ✓</a:t>
                      </a:r>
                    </a:p>
                  </a:txBody>
                  <a:tcPr>
                    <a:solidFill>
                      <a:srgbClr val="F1F5F9"/>
                    </a:solidFill>
                  </a:tcPr>
                </a:tc>
                <a:extLst>
                  <a:ext uri="{0D108BD9-81ED-4DB2-BD59-A6C34878D82A}">
                    <a16:rowId xmlns:a16="http://schemas.microsoft.com/office/drawing/2014/main" val="10008"/>
                  </a:ext>
                </a:extLst>
              </a:tr>
              <a:tr h="521208">
                <a:tc>
                  <a:txBody>
                    <a:bodyPr/>
                    <a:lstStyle/>
                    <a:p>
                      <a:pPr>
                        <a:defRPr sz="1100">
                          <a:solidFill>
                            <a:srgbClr val="0F172A"/>
                          </a:solidFill>
                          <a:latin typeface="Segoe UI"/>
                        </a:defRPr>
                      </a:pPr>
                      <a:r>
                        <a:t>CSV Export Download</a:t>
                      </a:r>
                    </a:p>
                  </a:txBody>
                  <a:tcPr>
                    <a:solidFill>
                      <a:srgbClr val="FFFFFF"/>
                    </a:solidFill>
                  </a:tcPr>
                </a:tc>
                <a:tc>
                  <a:txBody>
                    <a:bodyPr/>
                    <a:lstStyle/>
                    <a:p>
                      <a:pPr>
                        <a:defRPr sz="1100">
                          <a:solidFill>
                            <a:srgbClr val="0F172A"/>
                          </a:solidFill>
                          <a:latin typeface="Segoe UI"/>
                        </a:defRPr>
                      </a:pPr>
                      <a:r>
                        <a:t>Manual</a:t>
                      </a:r>
                    </a:p>
                  </a:txBody>
                  <a:tcPr>
                    <a:solidFill>
                      <a:srgbClr val="FFFFFF"/>
                    </a:solidFill>
                  </a:tcPr>
                </a:tc>
                <a:tc>
                  <a:txBody>
                    <a:bodyPr/>
                    <a:lstStyle/>
                    <a:p>
                      <a:pPr>
                        <a:defRPr sz="1100">
                          <a:solidFill>
                            <a:srgbClr val="0F172A"/>
                          </a:solidFill>
                          <a:latin typeface="Segoe UI"/>
                        </a:defRPr>
                      </a:pPr>
                      <a:r>
                        <a:t>File downloads with correct data rows</a:t>
                      </a:r>
                    </a:p>
                  </a:txBody>
                  <a:tcPr>
                    <a:solidFill>
                      <a:srgbClr val="FFFFFF"/>
                    </a:solidFill>
                  </a:tcPr>
                </a:tc>
                <a:tc>
                  <a:txBody>
                    <a:bodyPr/>
                    <a:lstStyle/>
                    <a:p>
                      <a:pPr>
                        <a:defRPr sz="1100">
                          <a:solidFill>
                            <a:srgbClr val="10B981"/>
                          </a:solidFill>
                          <a:latin typeface="Segoe UI"/>
                        </a:defRPr>
                      </a:pPr>
                      <a:r>
                        <a:t>Pass ✓</a:t>
                      </a:r>
                    </a:p>
                  </a:txBody>
                  <a:tcP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Completed Development Timeline</a:t>
            </a:r>
          </a:p>
        </p:txBody>
      </p:sp>
      <p:graphicFrame>
        <p:nvGraphicFramePr>
          <p:cNvPr id="5" name="Table 4"/>
          <p:cNvGraphicFramePr>
            <a:graphicFrameLocks noGrp="1"/>
          </p:cNvGraphicFramePr>
          <p:nvPr/>
        </p:nvGraphicFramePr>
        <p:xfrm>
          <a:off x="731520" y="1417320"/>
          <a:ext cx="10725912" cy="502920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gridCol w="1728216">
                  <a:extLst>
                    <a:ext uri="{9D8B030D-6E8A-4147-A177-3AD203B41FA5}">
                      <a16:colId xmlns:a16="http://schemas.microsoft.com/office/drawing/2014/main" val="20004"/>
                    </a:ext>
                  </a:extLst>
                </a:gridCol>
              </a:tblGrid>
              <a:tr h="718457">
                <a:tc>
                  <a:txBody>
                    <a:bodyPr/>
                    <a:lstStyle/>
                    <a:p>
                      <a:pPr>
                        <a:defRPr sz="1400" b="1">
                          <a:solidFill>
                            <a:srgbClr val="FFFFFF"/>
                          </a:solidFill>
                          <a:latin typeface="Segoe UI"/>
                        </a:defRPr>
                      </a:pPr>
                      <a:r>
                        <a:t>Phase</a:t>
                      </a:r>
                    </a:p>
                  </a:txBody>
                  <a:tcPr>
                    <a:solidFill>
                      <a:srgbClr val="1E3A8A"/>
                    </a:solidFill>
                  </a:tcPr>
                </a:tc>
                <a:tc>
                  <a:txBody>
                    <a:bodyPr/>
                    <a:lstStyle/>
                    <a:p>
                      <a:pPr>
                        <a:defRPr sz="1400" b="1">
                          <a:solidFill>
                            <a:srgbClr val="FFFFFF"/>
                          </a:solidFill>
                          <a:latin typeface="Segoe UI"/>
                        </a:defRPr>
                      </a:pPr>
                      <a:r>
                        <a:t>Weeks 1-3</a:t>
                      </a:r>
                    </a:p>
                  </a:txBody>
                  <a:tcPr>
                    <a:solidFill>
                      <a:srgbClr val="1E3A8A"/>
                    </a:solidFill>
                  </a:tcPr>
                </a:tc>
                <a:tc>
                  <a:txBody>
                    <a:bodyPr/>
                    <a:lstStyle/>
                    <a:p>
                      <a:pPr>
                        <a:defRPr sz="1400" b="1">
                          <a:solidFill>
                            <a:srgbClr val="FFFFFF"/>
                          </a:solidFill>
                          <a:latin typeface="Segoe UI"/>
                        </a:defRPr>
                      </a:pPr>
                      <a:r>
                        <a:t>Weeks 4-6</a:t>
                      </a:r>
                    </a:p>
                  </a:txBody>
                  <a:tcPr>
                    <a:solidFill>
                      <a:srgbClr val="1E3A8A"/>
                    </a:solidFill>
                  </a:tcPr>
                </a:tc>
                <a:tc>
                  <a:txBody>
                    <a:bodyPr/>
                    <a:lstStyle/>
                    <a:p>
                      <a:pPr>
                        <a:defRPr sz="1400" b="1">
                          <a:solidFill>
                            <a:srgbClr val="FFFFFF"/>
                          </a:solidFill>
                          <a:latin typeface="Segoe UI"/>
                        </a:defRPr>
                      </a:pPr>
                      <a:r>
                        <a:t>Weeks 7-9</a:t>
                      </a:r>
                    </a:p>
                  </a:txBody>
                  <a:tcPr>
                    <a:solidFill>
                      <a:srgbClr val="1E3A8A"/>
                    </a:solidFill>
                  </a:tcPr>
                </a:tc>
                <a:tc>
                  <a:txBody>
                    <a:bodyPr/>
                    <a:lstStyle/>
                    <a:p>
                      <a:pPr>
                        <a:defRPr sz="1400" b="1">
                          <a:solidFill>
                            <a:srgbClr val="FFFFFF"/>
                          </a:solidFill>
                          <a:latin typeface="Segoe UI"/>
                        </a:defRPr>
                      </a:pPr>
                      <a:r>
                        <a:t>Weeks 10-12</a:t>
                      </a:r>
                    </a:p>
                  </a:txBody>
                  <a:tcPr>
                    <a:solidFill>
                      <a:srgbClr val="1E3A8A"/>
                    </a:solidFill>
                  </a:tcPr>
                </a:tc>
                <a:extLst>
                  <a:ext uri="{0D108BD9-81ED-4DB2-BD59-A6C34878D82A}">
                    <a16:rowId xmlns:a16="http://schemas.microsoft.com/office/drawing/2014/main" val="10000"/>
                  </a:ext>
                </a:extLst>
              </a:tr>
              <a:tr h="718457">
                <a:tc>
                  <a:txBody>
                    <a:bodyPr/>
                    <a:lstStyle/>
                    <a:p>
                      <a:pPr>
                        <a:defRPr sz="1200">
                          <a:solidFill>
                            <a:srgbClr val="0F172A"/>
                          </a:solidFill>
                          <a:latin typeface="Segoe UI"/>
                        </a:defRPr>
                      </a:pPr>
                      <a:r>
                        <a:t>Requirement Analysis &amp; DB Design</a:t>
                      </a:r>
                    </a:p>
                  </a:txBody>
                  <a:tcPr>
                    <a:solidFill>
                      <a:srgbClr val="FFFFFF"/>
                    </a:solidFill>
                  </a:tcPr>
                </a:tc>
                <a:tc>
                  <a:txBody>
                    <a:bodyPr/>
                    <a:lstStyle/>
                    <a:p>
                      <a:pPr>
                        <a:defRPr sz="1200">
                          <a:solidFill>
                            <a:srgbClr val="166534"/>
                          </a:solidFill>
                          <a:latin typeface="Segoe UI"/>
                        </a:defRPr>
                      </a:pPr>
                      <a:r>
                        <a:t>Completed</a:t>
                      </a:r>
                    </a:p>
                  </a:txBody>
                  <a:tcPr>
                    <a:solidFill>
                      <a:srgbClr val="DCFCE7"/>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extLst>
                  <a:ext uri="{0D108BD9-81ED-4DB2-BD59-A6C34878D82A}">
                    <a16:rowId xmlns:a16="http://schemas.microsoft.com/office/drawing/2014/main" val="10001"/>
                  </a:ext>
                </a:extLst>
              </a:tr>
              <a:tr h="718457">
                <a:tc>
                  <a:txBody>
                    <a:bodyPr/>
                    <a:lstStyle/>
                    <a:p>
                      <a:pPr>
                        <a:defRPr sz="1200">
                          <a:solidFill>
                            <a:srgbClr val="0F172A"/>
                          </a:solidFill>
                          <a:latin typeface="Segoe UI"/>
                        </a:defRPr>
                      </a:pPr>
                      <a:r>
                        <a:t>FastAPI Backend Setup &amp; Auth</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166534"/>
                          </a:solidFill>
                          <a:latin typeface="Segoe UI"/>
                        </a:defRPr>
                      </a:pPr>
                      <a:r>
                        <a:t>Completed</a:t>
                      </a:r>
                    </a:p>
                  </a:txBody>
                  <a:tcPr>
                    <a:solidFill>
                      <a:srgbClr val="DCFCE7"/>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extLst>
                  <a:ext uri="{0D108BD9-81ED-4DB2-BD59-A6C34878D82A}">
                    <a16:rowId xmlns:a16="http://schemas.microsoft.com/office/drawing/2014/main" val="10002"/>
                  </a:ext>
                </a:extLst>
              </a:tr>
              <a:tr h="718457">
                <a:tc>
                  <a:txBody>
                    <a:bodyPr/>
                    <a:lstStyle/>
                    <a:p>
                      <a:pPr>
                        <a:defRPr sz="1200">
                          <a:solidFill>
                            <a:srgbClr val="0F172A"/>
                          </a:solidFill>
                          <a:latin typeface="Segoe UI"/>
                        </a:defRPr>
                      </a:pPr>
                      <a:r>
                        <a:t>Gemini AI &amp; ML Fallback Integration</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166534"/>
                          </a:solidFill>
                          <a:latin typeface="Segoe UI"/>
                        </a:defRPr>
                      </a:pPr>
                      <a:r>
                        <a:t>Completed</a:t>
                      </a:r>
                    </a:p>
                  </a:txBody>
                  <a:tcPr>
                    <a:solidFill>
                      <a:srgbClr val="DCFCE7"/>
                    </a:solidFill>
                  </a:tcPr>
                </a:tc>
                <a:tc>
                  <a:txBody>
                    <a:bodyPr/>
                    <a:lstStyle/>
                    <a:p>
                      <a:pPr>
                        <a:defRPr sz="1200">
                          <a:solidFill>
                            <a:srgbClr val="64748B"/>
                          </a:solidFill>
                          <a:latin typeface="Segoe UI"/>
                        </a:defRPr>
                      </a:pPr>
                      <a:r>
                        <a:t>-</a:t>
                      </a:r>
                    </a:p>
                  </a:txBody>
                  <a:tcPr>
                    <a:solidFill>
                      <a:srgbClr val="FFFFFF"/>
                    </a:solidFill>
                  </a:tcPr>
                </a:tc>
                <a:extLst>
                  <a:ext uri="{0D108BD9-81ED-4DB2-BD59-A6C34878D82A}">
                    <a16:rowId xmlns:a16="http://schemas.microsoft.com/office/drawing/2014/main" val="10003"/>
                  </a:ext>
                </a:extLst>
              </a:tr>
              <a:tr h="718457">
                <a:tc>
                  <a:txBody>
                    <a:bodyPr/>
                    <a:lstStyle/>
                    <a:p>
                      <a:pPr>
                        <a:defRPr sz="1200">
                          <a:solidFill>
                            <a:srgbClr val="0F172A"/>
                          </a:solidFill>
                          <a:latin typeface="Segoe UI"/>
                        </a:defRPr>
                      </a:pPr>
                      <a:r>
                        <a:t>React UI, Drawer &amp; Light Theme</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166534"/>
                          </a:solidFill>
                          <a:latin typeface="Segoe UI"/>
                        </a:defRPr>
                      </a:pPr>
                      <a:r>
                        <a:t>Completed</a:t>
                      </a:r>
                    </a:p>
                  </a:txBody>
                  <a:tcPr>
                    <a:solidFill>
                      <a:srgbClr val="DCFCE7"/>
                    </a:solidFill>
                  </a:tcPr>
                </a:tc>
                <a:tc>
                  <a:txBody>
                    <a:bodyPr/>
                    <a:lstStyle/>
                    <a:p>
                      <a:pPr>
                        <a:defRPr sz="1200">
                          <a:solidFill>
                            <a:srgbClr val="64748B"/>
                          </a:solidFill>
                          <a:latin typeface="Segoe UI"/>
                        </a:defRPr>
                      </a:pPr>
                      <a:r>
                        <a:t>-</a:t>
                      </a:r>
                    </a:p>
                  </a:txBody>
                  <a:tcPr>
                    <a:solidFill>
                      <a:srgbClr val="FFFFFF"/>
                    </a:solidFill>
                  </a:tcPr>
                </a:tc>
                <a:extLst>
                  <a:ext uri="{0D108BD9-81ED-4DB2-BD59-A6C34878D82A}">
                    <a16:rowId xmlns:a16="http://schemas.microsoft.com/office/drawing/2014/main" val="10004"/>
                  </a:ext>
                </a:extLst>
              </a:tr>
              <a:tr h="718457">
                <a:tc>
                  <a:txBody>
                    <a:bodyPr/>
                    <a:lstStyle/>
                    <a:p>
                      <a:pPr>
                        <a:defRPr sz="1200">
                          <a:solidFill>
                            <a:srgbClr val="0F172A"/>
                          </a:solidFill>
                          <a:latin typeface="Segoe UI"/>
                        </a:defRPr>
                      </a:pPr>
                      <a:r>
                        <a:t>Discussion Forum &amp; Analytics</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166534"/>
                          </a:solidFill>
                          <a:latin typeface="Segoe UI"/>
                        </a:defRPr>
                      </a:pPr>
                      <a:r>
                        <a:t>Completed</a:t>
                      </a:r>
                    </a:p>
                  </a:txBody>
                  <a:tcPr>
                    <a:solidFill>
                      <a:srgbClr val="DCFCE7"/>
                    </a:solidFill>
                  </a:tcPr>
                </a:tc>
                <a:extLst>
                  <a:ext uri="{0D108BD9-81ED-4DB2-BD59-A6C34878D82A}">
                    <a16:rowId xmlns:a16="http://schemas.microsoft.com/office/drawing/2014/main" val="10005"/>
                  </a:ext>
                </a:extLst>
              </a:tr>
              <a:tr h="718458">
                <a:tc>
                  <a:txBody>
                    <a:bodyPr/>
                    <a:lstStyle/>
                    <a:p>
                      <a:pPr>
                        <a:defRPr sz="1200">
                          <a:solidFill>
                            <a:srgbClr val="0F172A"/>
                          </a:solidFill>
                          <a:latin typeface="Segoe UI"/>
                        </a:defRPr>
                      </a:pPr>
                      <a:r>
                        <a:t>Testing, Deployment &amp; Documentation</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64748B"/>
                          </a:solidFill>
                          <a:latin typeface="Segoe UI"/>
                        </a:defRPr>
                      </a:pPr>
                      <a:r>
                        <a:t>-</a:t>
                      </a:r>
                    </a:p>
                  </a:txBody>
                  <a:tcPr>
                    <a:solidFill>
                      <a:srgbClr val="FFFFFF"/>
                    </a:solidFill>
                  </a:tcPr>
                </a:tc>
                <a:tc>
                  <a:txBody>
                    <a:bodyPr/>
                    <a:lstStyle/>
                    <a:p>
                      <a:pPr>
                        <a:defRPr sz="1200">
                          <a:solidFill>
                            <a:srgbClr val="166534"/>
                          </a:solidFill>
                          <a:latin typeface="Segoe UI"/>
                        </a:defRPr>
                      </a:pPr>
                      <a:r>
                        <a:t>Completed</a:t>
                      </a:r>
                    </a:p>
                  </a:txBody>
                  <a:tcPr>
                    <a:solidFill>
                      <a:srgbClr val="DCFC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Future Scope &amp; Enhancements</a:t>
            </a:r>
          </a:p>
        </p:txBody>
      </p:sp>
      <p:sp>
        <p:nvSpPr>
          <p:cNvPr id="5" name="Rounded Rectangle 4"/>
          <p:cNvSpPr/>
          <p:nvPr/>
        </p:nvSpPr>
        <p:spPr>
          <a:xfrm>
            <a:off x="731520" y="141732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4F46E5"/>
                </a:solidFill>
                <a:latin typeface="Segoe UI"/>
              </a:defRPr>
            </a:pPr>
            <a:r>
              <a:t>→  Native Mobile App</a:t>
            </a:r>
          </a:p>
          <a:p>
            <a:pPr>
              <a:spcBef>
                <a:spcPts val="600"/>
              </a:spcBef>
              <a:defRPr sz="1200">
                <a:solidFill>
                  <a:srgbClr val="0F172A"/>
                </a:solidFill>
                <a:latin typeface="Segoe UI"/>
              </a:defRPr>
            </a:pPr>
            <a:r>
              <a:t>Develop React Native iOS &amp; Android applications for on-the-go complaint submission.</a:t>
            </a:r>
          </a:p>
        </p:txBody>
      </p:sp>
      <p:sp>
        <p:nvSpPr>
          <p:cNvPr id="6" name="Rounded Rectangle 5"/>
          <p:cNvSpPr/>
          <p:nvPr/>
        </p:nvSpPr>
        <p:spPr>
          <a:xfrm>
            <a:off x="6400800" y="141732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4F46E5"/>
                </a:solidFill>
                <a:latin typeface="Segoe UI"/>
              </a:defRPr>
            </a:pPr>
            <a:r>
              <a:t>→  SMS / WhatsApp Alerts</a:t>
            </a:r>
          </a:p>
          <a:p>
            <a:pPr>
              <a:spcBef>
                <a:spcPts val="600"/>
              </a:spcBef>
              <a:defRPr sz="1200">
                <a:solidFill>
                  <a:srgbClr val="0F172A"/>
                </a:solidFill>
                <a:latin typeface="Segoe UI"/>
              </a:defRPr>
            </a:pPr>
            <a:r>
              <a:t>Integrate Twilio or WhatsApp Cloud API to push status update notifications.</a:t>
            </a:r>
          </a:p>
        </p:txBody>
      </p:sp>
      <p:sp>
        <p:nvSpPr>
          <p:cNvPr id="7" name="Rounded Rectangle 6"/>
          <p:cNvSpPr/>
          <p:nvPr/>
        </p:nvSpPr>
        <p:spPr>
          <a:xfrm>
            <a:off x="731520" y="315468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4F46E5"/>
                </a:solidFill>
                <a:latin typeface="Segoe UI"/>
              </a:defRPr>
            </a:pPr>
            <a:r>
              <a:t>→  Voice-to-Text Input</a:t>
            </a:r>
          </a:p>
          <a:p>
            <a:pPr>
              <a:spcBef>
                <a:spcPts val="600"/>
              </a:spcBef>
              <a:defRPr sz="1200">
                <a:solidFill>
                  <a:srgbClr val="0F172A"/>
                </a:solidFill>
                <a:latin typeface="Segoe UI"/>
              </a:defRPr>
            </a:pPr>
            <a:r>
              <a:t>Implement speech-to-text complaint submission using Web Speech API.</a:t>
            </a:r>
          </a:p>
        </p:txBody>
      </p:sp>
      <p:sp>
        <p:nvSpPr>
          <p:cNvPr id="8" name="Rounded Rectangle 7"/>
          <p:cNvSpPr/>
          <p:nvPr/>
        </p:nvSpPr>
        <p:spPr>
          <a:xfrm>
            <a:off x="6400800" y="315468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4F46E5"/>
                </a:solidFill>
                <a:latin typeface="Segoe UI"/>
              </a:defRPr>
            </a:pPr>
            <a:r>
              <a:t>→  Multi-Campus Support</a:t>
            </a:r>
          </a:p>
          <a:p>
            <a:pPr>
              <a:spcBef>
                <a:spcPts val="600"/>
              </a:spcBef>
              <a:defRPr sz="1200">
                <a:solidFill>
                  <a:srgbClr val="0F172A"/>
                </a:solidFill>
                <a:latin typeface="Segoe UI"/>
              </a:defRPr>
            </a:pPr>
            <a:r>
              <a:t>Architecture refactor to support multiple campus domains with admin namespacing.</a:t>
            </a:r>
          </a:p>
        </p:txBody>
      </p:sp>
      <p:sp>
        <p:nvSpPr>
          <p:cNvPr id="9" name="Rounded Rectangle 8"/>
          <p:cNvSpPr/>
          <p:nvPr/>
        </p:nvSpPr>
        <p:spPr>
          <a:xfrm>
            <a:off x="731520" y="489204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4F46E5"/>
                </a:solidFill>
                <a:latin typeface="Segoe UI"/>
              </a:defRPr>
            </a:pPr>
            <a:r>
              <a:t>→  Auto-Escalation SLAs</a:t>
            </a:r>
          </a:p>
          <a:p>
            <a:pPr>
              <a:spcBef>
                <a:spcPts val="600"/>
              </a:spcBef>
              <a:defRPr sz="1200">
                <a:solidFill>
                  <a:srgbClr val="0F172A"/>
                </a:solidFill>
                <a:latin typeface="Segoe UI"/>
              </a:defRPr>
            </a:pPr>
            <a:r>
              <a:t>Define resolution deadlines per complaint category; auto-escalate overdue tickets.</a:t>
            </a:r>
          </a:p>
        </p:txBody>
      </p:sp>
      <p:sp>
        <p:nvSpPr>
          <p:cNvPr id="10" name="Rounded Rectangle 9"/>
          <p:cNvSpPr/>
          <p:nvPr/>
        </p:nvSpPr>
        <p:spPr>
          <a:xfrm>
            <a:off x="6400800" y="4892040"/>
            <a:ext cx="5394960" cy="15544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4F46E5"/>
                </a:solidFill>
                <a:latin typeface="Segoe UI"/>
              </a:defRPr>
            </a:pPr>
            <a:r>
              <a:t>→  Department-Level Login</a:t>
            </a:r>
          </a:p>
          <a:p>
            <a:pPr>
              <a:spcBef>
                <a:spcPts val="600"/>
              </a:spcBef>
              <a:defRPr sz="1200">
                <a:solidFill>
                  <a:srgbClr val="0F172A"/>
                </a:solidFill>
                <a:latin typeface="Segoe UI"/>
              </a:defRPr>
            </a:pPr>
            <a:r>
              <a:t>Granular role system for HOD, Warden, IT Admin, and Maintenance Head access levels.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914400"/>
            <a:ext cx="10362895" cy="3200400"/>
          </a:xfrm>
          <a:prstGeom prst="rect">
            <a:avLst/>
          </a:prstGeom>
          <a:noFill/>
        </p:spPr>
        <p:txBody>
          <a:bodyPr wrap="square">
            <a:spAutoFit/>
          </a:bodyPr>
          <a:lstStyle/>
          <a:p>
            <a:pPr algn="l">
              <a:defRPr sz="3600" b="1">
                <a:solidFill>
                  <a:srgbClr val="FFFFFF"/>
                </a:solidFill>
                <a:latin typeface="Segoe UI"/>
              </a:defRPr>
            </a:pPr>
            <a:r>
              <a:t>Project Conclusion</a:t>
            </a:r>
          </a:p>
          <a:p>
            <a:pPr>
              <a:spcBef>
                <a:spcPts val="1600"/>
              </a:spcBef>
              <a:defRPr sz="1600">
                <a:solidFill>
                  <a:srgbClr val="94A3B8"/>
                </a:solidFill>
                <a:latin typeface="Segoe UI"/>
              </a:defRPr>
            </a:pPr>
            <a:r>
              <a:t>CampusVoice successfully delivers a fully operational, AI-first campus complaint management platform that reduces administrator triage time, eliminates communication gaps, enables data-driven management insights, and provides students with a transparent, professional resolution experience.</a:t>
            </a:r>
          </a:p>
        </p:txBody>
      </p:sp>
      <p:sp>
        <p:nvSpPr>
          <p:cNvPr id="4" name="Rounded Rectangle 3"/>
          <p:cNvSpPr/>
          <p:nvPr/>
        </p:nvSpPr>
        <p:spPr>
          <a:xfrm>
            <a:off x="731520" y="4572000"/>
            <a:ext cx="2468880" cy="1645920"/>
          </a:xfrm>
          <a:prstGeom prst="round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663440"/>
            <a:ext cx="2468880" cy="731520"/>
          </a:xfrm>
          <a:prstGeom prst="rect">
            <a:avLst/>
          </a:prstGeom>
          <a:noFill/>
        </p:spPr>
        <p:txBody>
          <a:bodyPr wrap="none">
            <a:spAutoFit/>
          </a:bodyPr>
          <a:lstStyle/>
          <a:p>
            <a:pPr algn="ctr">
              <a:defRPr sz="2600" b="1">
                <a:solidFill>
                  <a:srgbClr val="2563EB"/>
                </a:solidFill>
                <a:latin typeface="Segoe UI"/>
              </a:defRPr>
            </a:pPr>
            <a:r>
              <a:t>&lt; 1 sec</a:t>
            </a:r>
          </a:p>
        </p:txBody>
      </p:sp>
      <p:sp>
        <p:nvSpPr>
          <p:cNvPr id="6" name="TextBox 5"/>
          <p:cNvSpPr txBox="1"/>
          <p:nvPr/>
        </p:nvSpPr>
        <p:spPr>
          <a:xfrm>
            <a:off x="731520" y="5349240"/>
            <a:ext cx="2468880" cy="411480"/>
          </a:xfrm>
          <a:prstGeom prst="rect">
            <a:avLst/>
          </a:prstGeom>
          <a:noFill/>
        </p:spPr>
        <p:txBody>
          <a:bodyPr wrap="none">
            <a:spAutoFit/>
          </a:bodyPr>
          <a:lstStyle/>
          <a:p>
            <a:pPr algn="ctr">
              <a:defRPr sz="1200">
                <a:solidFill>
                  <a:srgbClr val="94A3B8"/>
                </a:solidFill>
                <a:latin typeface="Segoe UI"/>
              </a:defRPr>
            </a:pPr>
            <a:r>
              <a:t>Submission latency</a:t>
            </a:r>
          </a:p>
        </p:txBody>
      </p:sp>
      <p:sp>
        <p:nvSpPr>
          <p:cNvPr id="7" name="Rounded Rectangle 6"/>
          <p:cNvSpPr/>
          <p:nvPr/>
        </p:nvSpPr>
        <p:spPr>
          <a:xfrm>
            <a:off x="3566160" y="4572000"/>
            <a:ext cx="2468880" cy="1645920"/>
          </a:xfrm>
          <a:prstGeom prst="round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66160" y="4663440"/>
            <a:ext cx="2468880" cy="731520"/>
          </a:xfrm>
          <a:prstGeom prst="rect">
            <a:avLst/>
          </a:prstGeom>
          <a:noFill/>
        </p:spPr>
        <p:txBody>
          <a:bodyPr wrap="none">
            <a:spAutoFit/>
          </a:bodyPr>
          <a:lstStyle/>
          <a:p>
            <a:pPr algn="ctr">
              <a:defRPr sz="2600" b="1">
                <a:solidFill>
                  <a:srgbClr val="2563EB"/>
                </a:solidFill>
                <a:latin typeface="Segoe UI"/>
              </a:defRPr>
            </a:pPr>
            <a:r>
              <a:t>&gt; 92%</a:t>
            </a:r>
          </a:p>
        </p:txBody>
      </p:sp>
      <p:sp>
        <p:nvSpPr>
          <p:cNvPr id="9" name="TextBox 8"/>
          <p:cNvSpPr txBox="1"/>
          <p:nvPr/>
        </p:nvSpPr>
        <p:spPr>
          <a:xfrm>
            <a:off x="3566160" y="5349240"/>
            <a:ext cx="2468880" cy="411480"/>
          </a:xfrm>
          <a:prstGeom prst="rect">
            <a:avLst/>
          </a:prstGeom>
          <a:noFill/>
        </p:spPr>
        <p:txBody>
          <a:bodyPr wrap="none">
            <a:spAutoFit/>
          </a:bodyPr>
          <a:lstStyle/>
          <a:p>
            <a:pPr algn="ctr">
              <a:defRPr sz="1200">
                <a:solidFill>
                  <a:srgbClr val="94A3B8"/>
                </a:solidFill>
                <a:latin typeface="Segoe UI"/>
              </a:defRPr>
            </a:pPr>
            <a:r>
              <a:t>AI accuracy</a:t>
            </a:r>
          </a:p>
        </p:txBody>
      </p:sp>
      <p:sp>
        <p:nvSpPr>
          <p:cNvPr id="10" name="Rounded Rectangle 9"/>
          <p:cNvSpPr/>
          <p:nvPr/>
        </p:nvSpPr>
        <p:spPr>
          <a:xfrm>
            <a:off x="6400800" y="4572000"/>
            <a:ext cx="2468880" cy="1645920"/>
          </a:xfrm>
          <a:prstGeom prst="round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663440"/>
            <a:ext cx="2468880" cy="731520"/>
          </a:xfrm>
          <a:prstGeom prst="rect">
            <a:avLst/>
          </a:prstGeom>
          <a:noFill/>
        </p:spPr>
        <p:txBody>
          <a:bodyPr wrap="none">
            <a:spAutoFit/>
          </a:bodyPr>
          <a:lstStyle/>
          <a:p>
            <a:pPr algn="ctr">
              <a:defRPr sz="2600" b="1">
                <a:solidFill>
                  <a:srgbClr val="2563EB"/>
                </a:solidFill>
                <a:latin typeface="Segoe UI"/>
              </a:defRPr>
            </a:pPr>
            <a:r>
              <a:t>100%</a:t>
            </a:r>
          </a:p>
        </p:txBody>
      </p:sp>
      <p:sp>
        <p:nvSpPr>
          <p:cNvPr id="12" name="TextBox 11"/>
          <p:cNvSpPr txBox="1"/>
          <p:nvPr/>
        </p:nvSpPr>
        <p:spPr>
          <a:xfrm>
            <a:off x="6400800" y="5349240"/>
            <a:ext cx="2468880" cy="411480"/>
          </a:xfrm>
          <a:prstGeom prst="rect">
            <a:avLst/>
          </a:prstGeom>
          <a:noFill/>
        </p:spPr>
        <p:txBody>
          <a:bodyPr wrap="none">
            <a:spAutoFit/>
          </a:bodyPr>
          <a:lstStyle/>
          <a:p>
            <a:pPr algn="ctr">
              <a:defRPr sz="1200">
                <a:solidFill>
                  <a:srgbClr val="94A3B8"/>
                </a:solidFill>
                <a:latin typeface="Segoe UI"/>
              </a:defRPr>
            </a:pPr>
            <a:r>
              <a:t>Uptime (dual engine)</a:t>
            </a:r>
          </a:p>
        </p:txBody>
      </p:sp>
      <p:sp>
        <p:nvSpPr>
          <p:cNvPr id="13" name="Rounded Rectangle 12"/>
          <p:cNvSpPr/>
          <p:nvPr/>
        </p:nvSpPr>
        <p:spPr>
          <a:xfrm>
            <a:off x="9235440" y="4572000"/>
            <a:ext cx="2468880" cy="1645920"/>
          </a:xfrm>
          <a:prstGeom prst="roundRect">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35440" y="4663440"/>
            <a:ext cx="2468880" cy="731520"/>
          </a:xfrm>
          <a:prstGeom prst="rect">
            <a:avLst/>
          </a:prstGeom>
          <a:noFill/>
        </p:spPr>
        <p:txBody>
          <a:bodyPr wrap="none">
            <a:spAutoFit/>
          </a:bodyPr>
          <a:lstStyle/>
          <a:p>
            <a:pPr algn="ctr">
              <a:defRPr sz="2600" b="1">
                <a:solidFill>
                  <a:srgbClr val="2563EB"/>
                </a:solidFill>
                <a:latin typeface="Segoe UI"/>
              </a:defRPr>
            </a:pPr>
            <a:r>
              <a:t>9 Modules</a:t>
            </a:r>
          </a:p>
        </p:txBody>
      </p:sp>
      <p:sp>
        <p:nvSpPr>
          <p:cNvPr id="15" name="TextBox 14"/>
          <p:cNvSpPr txBox="1"/>
          <p:nvPr/>
        </p:nvSpPr>
        <p:spPr>
          <a:xfrm>
            <a:off x="9235440" y="5349240"/>
            <a:ext cx="2468880" cy="411480"/>
          </a:xfrm>
          <a:prstGeom prst="rect">
            <a:avLst/>
          </a:prstGeom>
          <a:noFill/>
        </p:spPr>
        <p:txBody>
          <a:bodyPr wrap="none">
            <a:spAutoFit/>
          </a:bodyPr>
          <a:lstStyle/>
          <a:p>
            <a:pPr algn="ctr">
              <a:defRPr sz="1200">
                <a:solidFill>
                  <a:srgbClr val="94A3B8"/>
                </a:solidFill>
                <a:latin typeface="Segoe UI"/>
              </a:defRPr>
            </a:pPr>
            <a:r>
              <a:t>Delivered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
            <a:ext cx="9144000" cy="320040"/>
          </a:xfrm>
          <a:prstGeom prst="rect">
            <a:avLst/>
          </a:prstGeom>
          <a:noFill/>
        </p:spPr>
        <p:txBody>
          <a:bodyPr wrap="square">
            <a:spAutoFit/>
          </a:bodyPr>
          <a:lstStyle/>
          <a:p>
            <a:pPr algn="l">
              <a:defRPr sz="1000" b="1" i="0">
                <a:solidFill>
                  <a:srgbClr val="2563EB"/>
                </a:solidFill>
                <a:latin typeface="Segoe UI"/>
              </a:defRPr>
            </a:pPr>
            <a:r>
              <a:t>FINAL REVIEW</a:t>
            </a:r>
          </a:p>
        </p:txBody>
      </p:sp>
      <p:sp>
        <p:nvSpPr>
          <p:cNvPr id="4" name="TextBox 3"/>
          <p:cNvSpPr txBox="1"/>
          <p:nvPr/>
        </p:nvSpPr>
        <p:spPr>
          <a:xfrm>
            <a:off x="731520" y="457200"/>
            <a:ext cx="10725912" cy="594360"/>
          </a:xfrm>
          <a:prstGeom prst="rect">
            <a:avLst/>
          </a:prstGeom>
          <a:noFill/>
        </p:spPr>
        <p:txBody>
          <a:bodyPr wrap="square">
            <a:spAutoFit/>
          </a:bodyPr>
          <a:lstStyle/>
          <a:p>
            <a:pPr algn="l">
              <a:defRPr sz="2800" b="1" i="0">
                <a:solidFill>
                  <a:srgbClr val="1E3A8A"/>
                </a:solidFill>
                <a:latin typeface="Segoe UI"/>
              </a:defRPr>
            </a:pPr>
            <a:r>
              <a:t>References</a:t>
            </a:r>
          </a:p>
        </p:txBody>
      </p:sp>
      <p:sp>
        <p:nvSpPr>
          <p:cNvPr id="5" name="Rounded Rectangle 4"/>
          <p:cNvSpPr/>
          <p:nvPr/>
        </p:nvSpPr>
        <p:spPr>
          <a:xfrm>
            <a:off x="731520" y="1417320"/>
            <a:ext cx="10725912" cy="484632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E3A8A"/>
                </a:solidFill>
                <a:latin typeface="Segoe UI"/>
              </a:defRPr>
            </a:pPr>
            <a:r>
              <a:t>Academic &amp; Technical References</a:t>
            </a:r>
          </a:p>
          <a:p>
            <a:pPr>
              <a:spcBef>
                <a:spcPts val="1000"/>
              </a:spcBef>
              <a:defRPr sz="1300">
                <a:solidFill>
                  <a:srgbClr val="0F172A"/>
                </a:solidFill>
                <a:latin typeface="Segoe UI"/>
              </a:defRPr>
            </a:pPr>
            <a:r>
              <a:t>1. Google Gemini API Documentation — https://ai.google.dev/docs</a:t>
            </a:r>
          </a:p>
          <a:p>
            <a:pPr>
              <a:spcBef>
                <a:spcPts val="1000"/>
              </a:spcBef>
              <a:defRPr sz="1300">
                <a:solidFill>
                  <a:srgbClr val="0F172A"/>
                </a:solidFill>
                <a:latin typeface="Segoe UI"/>
              </a:defRPr>
            </a:pPr>
            <a:r>
              <a:t>2. FastAPI Official Docs &amp; BackgroundTasks — https://fastapi.tiangolo.com/</a:t>
            </a:r>
          </a:p>
          <a:p>
            <a:pPr>
              <a:spcBef>
                <a:spcPts val="1000"/>
              </a:spcBef>
              <a:defRPr sz="1300">
                <a:solidFill>
                  <a:srgbClr val="0F172A"/>
                </a:solidFill>
                <a:latin typeface="Segoe UI"/>
              </a:defRPr>
            </a:pPr>
            <a:r>
              <a:t>3. React 18 + Vite Documentation — https://react.dev/  |  https://vite.dev/</a:t>
            </a:r>
          </a:p>
          <a:p>
            <a:pPr>
              <a:spcBef>
                <a:spcPts val="1000"/>
              </a:spcBef>
              <a:defRPr sz="1300">
                <a:solidFill>
                  <a:srgbClr val="0F172A"/>
                </a:solidFill>
                <a:latin typeface="Segoe UI"/>
              </a:defRPr>
            </a:pPr>
            <a:r>
              <a:t>4. Scikit-Learn: TF-IDF &amp; Logistic Regression — https://scikit-learn.org/</a:t>
            </a:r>
          </a:p>
          <a:p>
            <a:pPr>
              <a:spcBef>
                <a:spcPts val="1000"/>
              </a:spcBef>
              <a:defRPr sz="1300">
                <a:solidFill>
                  <a:srgbClr val="0F172A"/>
                </a:solidFill>
                <a:latin typeface="Segoe UI"/>
              </a:defRPr>
            </a:pPr>
            <a:r>
              <a:t>5. Tailwind CSS Documentation — https://tailwindcss.com/</a:t>
            </a:r>
          </a:p>
          <a:p>
            <a:pPr>
              <a:spcBef>
                <a:spcPts val="1000"/>
              </a:spcBef>
              <a:defRPr sz="1300">
                <a:solidFill>
                  <a:srgbClr val="0F172A"/>
                </a:solidFill>
                <a:latin typeface="Segoe UI"/>
              </a:defRPr>
            </a:pPr>
            <a:r>
              <a:t>6. Recharts React Charting Library — https://recharts.org/</a:t>
            </a:r>
          </a:p>
          <a:p>
            <a:pPr>
              <a:spcBef>
                <a:spcPts val="1000"/>
              </a:spcBef>
              <a:defRPr sz="1300">
                <a:solidFill>
                  <a:srgbClr val="0F172A"/>
                </a:solidFill>
                <a:latin typeface="Segoe UI"/>
              </a:defRPr>
            </a:pPr>
            <a:r>
              <a:t>7. SQLAlchemy ORM Documentation — https://docs.sqlalchemy.org/</a:t>
            </a:r>
          </a:p>
          <a:p>
            <a:pPr>
              <a:spcBef>
                <a:spcPts val="1000"/>
              </a:spcBef>
              <a:defRPr sz="1300">
                <a:solidFill>
                  <a:srgbClr val="0F172A"/>
                </a:solidFill>
                <a:latin typeface="Segoe UI"/>
              </a:defRPr>
            </a:pPr>
            <a:r>
              <a:t>8. Pydantic v2 Documentation — https://docs.pydantic.dev/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1212</Words>
  <Application>Microsoft Office PowerPoint</Application>
  <PresentationFormat>Widescreen</PresentationFormat>
  <Paragraphs>174</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 Vishnu Package</cp:lastModifiedBy>
  <cp:revision>3</cp:revision>
  <dcterms:created xsi:type="dcterms:W3CDTF">2013-01-27T09:14:16Z</dcterms:created>
  <dcterms:modified xsi:type="dcterms:W3CDTF">2026-07-22T09:41:22Z</dcterms:modified>
  <cp:category/>
</cp:coreProperties>
</file>