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CampusVoice</a:t>
            </a:r>
          </a:p>
          <a:p>
            <a:pPr>
              <a:spcBef>
                <a:spcPts val="800"/>
              </a:spcBef>
              <a:defRPr sz="2400">
                <a:solidFill>
                  <a:srgbClr val="93C5FD"/>
                </a:solidFill>
                <a:latin typeface="Segoe UI"/>
              </a:defRPr>
            </a:pPr>
            <a:r>
              <a:t>AI-Powered Campus Complaint Management System</a:t>
            </a:r>
          </a:p>
          <a:p>
            <a:pPr>
              <a:spcBef>
                <a:spcPts val="16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First Review Presentation | Department of Computer Science &amp;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493776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STUDENT TEAM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Member 1 (Roll No: 20XXX001)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Member 2 (Roll No: 20XXX002)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Member 3 (Roll No: 20XXX003)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• Member 4 (Roll No: 20XXX004)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3840480"/>
            <a:ext cx="5059375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GUIDE &amp; INSTITUTION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Project Guide: Dr. / Prof. [Guide Name]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Designation: Assistant Professor / Associate Professor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Department: Computer Science &amp; Engineering</a:t>
            </a:r>
          </a:p>
          <a:p>
            <a:pPr>
              <a:spcBef>
                <a:spcPts val="400"/>
              </a:spcBef>
              <a:defRPr sz="1300">
                <a:solidFill>
                  <a:srgbClr val="F1F5F9"/>
                </a:solidFill>
                <a:latin typeface="Segoe UI"/>
              </a:defRPr>
            </a:pPr>
            <a:r>
              <a:t>College: [College Name &amp; Campus]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Introduction &amp; Background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Importance of Campus Complaint Management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Student Satisfaction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Ensuring quick resolution to campus facility, IT, academic, and hostel issues builds trust and improves overall campus environment.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Operational Efficiency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Institutions require streamlined routing to direct complaints to the appropriate administrative staff immediately.</a:t>
            </a:r>
          </a:p>
          <a:p>
            <a:pPr>
              <a:spcBef>
                <a:spcPts val="1200"/>
              </a:spcBef>
              <a:defRPr b="1" sz="1400">
                <a:solidFill>
                  <a:srgbClr val="2563EB"/>
                </a:solidFill>
              </a:defRPr>
            </a:pPr>
            <a:r>
              <a:t>Data-Driven Decisions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Identifying recurring infrastructure or service failures enables preventive maintenance and resource allocation.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Current Limitations in Higher Education</a:t>
            </a:r>
          </a:p>
          <a:p>
            <a:pPr>
              <a:spcBef>
                <a:spcPts val="1200"/>
              </a:spcBef>
              <a:defRPr b="1" sz="1400">
                <a:solidFill>
                  <a:srgbClr val="E11D48"/>
                </a:solidFill>
              </a:defRPr>
            </a:pPr>
            <a:r>
              <a:t>Manual Routing Bottlenecks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Physical complaint boxes or unorganized email threads result in lost or unaddressed tickets.</a:t>
            </a:r>
          </a:p>
          <a:p>
            <a:pPr>
              <a:spcBef>
                <a:spcPts val="1200"/>
              </a:spcBef>
              <a:defRPr b="1" sz="1400">
                <a:solidFill>
                  <a:srgbClr val="E11D48"/>
                </a:solidFill>
              </a:defRPr>
            </a:pPr>
            <a:r>
              <a:t>Lack of Urgency Classification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Emergency complaints (security, electrical hazards) are processed with the same priority as general suggestions.</a:t>
            </a:r>
          </a:p>
          <a:p>
            <a:pPr>
              <a:spcBef>
                <a:spcPts val="1200"/>
              </a:spcBef>
              <a:defRPr b="1" sz="1400">
                <a:solidFill>
                  <a:srgbClr val="E11D48"/>
                </a:solidFill>
              </a:defRPr>
            </a:pPr>
            <a:r>
              <a:t>Zero Communication Loop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Students have no real-time status visibility or channel to converse with admins once a ticket is submitted.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1. Delayed Resolution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Complaints take days or weeks to reach the right authority due to manual manual sorting and transfer.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2. Lack of Transparency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Students receive zero updates on ticket progress (Pending vs In Progress vs Resolved).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3. No Priority Intelligence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Critical emergency issues get buried beneath minor routine requests without urgency scoring.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931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4. Manual Categorization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Administrators spend valuable time manually reading and tagging incoming reports.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5. Unidirectional Communication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Admins cannot ask follow-up questions to students when information is incomplete.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Existing System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59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33672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Existing Workflow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Core Disadvantage / Risk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Paper / Drop-box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Physical suggestion boxes opened periodically.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</a:defRPr>
                      </a:pPr>
                      <a:r>
                        <a:t>High risk of lost tickets, zero tracking, zero priority handling.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General Email Inbox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Students email a common campus administration ID.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</a:defRPr>
                      </a:pPr>
                      <a:r>
                        <a:t>Emails get buried, no structured category tags, manual forwarding needed.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Spreadsheet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Staff manually log emails into Excel sheets.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E11D48"/>
                          </a:solidFill>
                        </a:defRPr>
                      </a:pPr>
                      <a:r>
                        <a:t>Prone to human error, no real-time status updates for students, no AI insights.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Proposed System Architecture — CampusVoice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Google Gemini AI Engine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Asynchronous LLM layer automatically categorizes complaints, scores sentiment, and drafts action plans.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Intelligent Prioritization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Categorizes urgency into High, Medium, and Low priorities to surface critical campus issues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Integrated Discussion Forum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Real-time, context-aware discussion drawer for two-way communication between students and admins.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Full-Screen Under-Navbar Drawer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Clean slide-over interface displaying complete details, evidence attachments, and live chat without losing navigation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8404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Real-Time Analytics &amp; CSV Export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Recharts visual metrics (category breakdown, sentiment analysis, monthly trends) with export capabilities.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384048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400">
                <a:solidFill>
                  <a:srgbClr val="2563EB"/>
                </a:solidFill>
              </a:defRPr>
            </a:pPr>
            <a:r>
              <a:t>Vibrant Light Design System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High-contrast, modern UI built with Tailwind CSS, custom badges, and smooth micro-animations.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Objective 1: Automate Complaint Processing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Reduce manual administrative triage time by 90% using LLM zero-shot text classification.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07259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Objective 2: Accelerate Critical Response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Ensure high-priority issues (safety, power outages) are flagged immediately via intelligent urgency scoring.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107259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Objective 3: Enable Transparent Communication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Provide a dedicated 2-way comment channel and status timeline (Pending → In Progress → Resolved).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7259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E3A8A"/>
                </a:solidFill>
              </a:defRPr>
            </a:pPr>
            <a:r>
              <a:t>Objective 4: Deliver Strategic Campus Analytics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Empower management with category distributions, sentiment breakdown, and historical trend insights.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Project Scope Definition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0B981"/>
                </a:solidFill>
              </a:defRPr>
            </a:pPr>
            <a:r>
              <a:t>In-Scope Capabilities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✓  Student Complaint Submission with evidence image attachment.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✓  Asynchronous AI analysis via Google Gemini REST API.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✓  Scikit-Learn TF-IDF + Logistic Regression fallback model.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✓  Admin Command Center with filtering, search, and status updates.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✓  Two-way comment discussion forum per ticket.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✓  Analytics Dashboard with charts &amp; CSV export functionality.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64748B"/>
                </a:solidFill>
              </a:defRPr>
            </a:pPr>
            <a:r>
              <a:t>Out-of-Scope (Future Enhancements)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 Native iOS / Android mobile application build (Web SPA currently).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 SMS Gateway Integration (Currently uses in-app notifications).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 Multi-campus enterprise integration (Single campus domain currently).</a:t>
            </a:r>
          </a:p>
          <a:p>
            <a:pPr>
              <a:spcBef>
                <a:spcPts val="1200"/>
              </a:spcBef>
              <a:defRPr sz="1300">
                <a:solidFill>
                  <a:srgbClr val="64748B"/>
                </a:solidFill>
              </a:defRPr>
            </a:pPr>
            <a:r>
              <a:t>•  Automated physical hardware dispatch integration.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Functional Modules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1. Student Portal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Complaint submission, image upload, live keyword AI preview, and ticket history tracking.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2. Admin Command Center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Searchable dashboard, status manager (Pending/In Progress/Resolved), and full-screen drawer.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3. AI Pipeline Module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Dual engine: Gemini API (LLM) + Scikit-Learn (TF-IDF/Logistic Regression) fallback.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93192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4. Discussion Module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Two-way discussion forum with user role identification (Admin vs Student bubbles).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3410712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1E3A8A"/>
                </a:solidFill>
              </a:defRPr>
            </a:pPr>
            <a:r>
              <a:t>5. Analytics &amp; Export</a:t>
            </a:r>
          </a:p>
          <a:p>
            <a:pPr>
              <a:spcBef>
                <a:spcPts val="800"/>
              </a:spcBef>
              <a:defRPr sz="1200">
                <a:solidFill>
                  <a:srgbClr val="64748B"/>
                </a:solidFill>
              </a:defRPr>
            </a:pPr>
            <a:r>
              <a:t>Visual interactive charts powered by Recharts with automated CSV report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High-Level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2468880" cy="1645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React Single Page App</a:t>
            </a:r>
            <a:br/>
            <a:r>
              <a:t>(Tailwind + Lucide)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560320"/>
            <a:ext cx="2468880" cy="164592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FastAPI Backend</a:t>
            </a:r>
            <a:br/>
            <a:r>
              <a:t>(REST Routers + JWT)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Dual AI Engine</a:t>
            </a:r>
            <a:br/>
            <a:r>
              <a:t>(Gemini API + TF-IDF)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2468880" cy="16459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SQLite Relational DB</a:t>
            </a:r>
            <a:br/>
            <a:r>
              <a:t>(SQLAlchemy ORM)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560320"/>
            <a:ext cx="2468880" cy="164592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FFFFF"/>
                </a:solidFill>
              </a:defRPr>
            </a:pPr>
            <a:r>
              <a:t>Admin / Student</a:t>
            </a:r>
            <a:br/>
            <a:r>
              <a:t>Full Drawer 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React 18 (Vite SPA)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Tailwind CSS (Light Theme)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Recharts (Data Visualization)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Axios HTTP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Backend Layer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FastAPI (Python 3.11+)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SQLAlchemy ORM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Pydantic v2 Validation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JWT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AI / ML Pipeline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Google Gemini REST API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Scikit-Learn (TF-IDF Vectorizer)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Logistic Regression Fallback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Async BackgroundTasks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2563EB"/>
                </a:solidFill>
              </a:defRPr>
            </a:pPr>
            <a:r>
              <a:t>Storage &amp; Tools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SQLite Database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Python-pptx Generator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Git / GitHub Version Control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•  Node.js / npm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Project Development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59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0712"/>
                <a:gridCol w="1828800"/>
                <a:gridCol w="1828800"/>
                <a:gridCol w="1828800"/>
                <a:gridCol w="182880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Phase / Module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Weeks 1-3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Weeks 4-6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Weeks 7-9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Weeks 10-12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Requirement Analysis &amp; DB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FastAPI Backend &amp; Auth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Gemini AI &amp; Fallback ML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React Light Theme &amp; Full-Screen Drawer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66534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Testing, Deployment &amp;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B45309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Expected Project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Zero Latency UI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Background async AI tasks ensure ticket submission takes &lt; 1 second.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Sub-2 Second AI Analysis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Gemini API yields categorization, priority scoring &amp; recommendations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High Priority Response Acceleration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Urgent issues surfaced directly to admins on top of the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05937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600">
                <a:solidFill>
                  <a:srgbClr val="10B981"/>
                </a:solidFill>
              </a:defRPr>
            </a:pPr>
            <a:r>
              <a:t>Seamless Collaboration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Contextual discussion forum bridges communication between staff and students.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B.TECH FINAL YEAR PROJECT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E3A8A"/>
                </a:solidFill>
                <a:latin typeface="Segoe UI"/>
              </a:defRPr>
            </a:pPr>
            <a:r>
              <a:t>References &amp; Technical Documentation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591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Key Academic &amp; Technical References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1. Google Gemini API Documentation: https://ai.google.dev/docs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2. FastAPI Official Documentation &amp; Async BackgroundTasks Guide: https://fastapi.tiangolo.com/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3. React 18 &amp; Vite Single Page Application Architecture Documentation: https://react.dev/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4. Scikit-Learn Documentation: Text Feature Extraction (TF-IDF Vectorizer) &amp; Logistic Regression.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5. Tailwind CSS Utility-First Framework Documentation: https://tailwindcss.com/</a:t>
            </a:r>
          </a:p>
          <a:p>
            <a:pPr>
              <a:spcBef>
                <a:spcPts val="1200"/>
              </a:spcBef>
              <a:defRPr sz="1300">
                <a:solidFill>
                  <a:srgbClr val="0F172A"/>
                </a:solidFill>
              </a:defRPr>
            </a:pPr>
            <a:r>
              <a:t>6. Recharts React Charting Library: https://recharts.org/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